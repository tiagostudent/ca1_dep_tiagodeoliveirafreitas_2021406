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80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0863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Identifying Risk Factors in Severe Traffic Accidents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94427"/>
            <a:ext cx="5086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1976D2"/>
                </a:solidFill>
              </a:rPr>
              <a:t>A Data-Driven Analysis of UK Road Safety (2024)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571500" y="1858770"/>
            <a:ext cx="5086350" cy="10004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858770"/>
            <a:ext cx="35719" cy="100043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750094" y="1958783"/>
            <a:ext cx="47291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Tiago De Oliveira Freitas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50094" y="2210600"/>
            <a:ext cx="47291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Student Number: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 2021406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Institution: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 CCT College Dublin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Module: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 Data Exploration &amp; Preparation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571500" y="3016365"/>
            <a:ext cx="5086350" cy="910103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162812"/>
            <a:ext cx="110728" cy="100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541" y="3144952"/>
            <a:ext cx="12773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>
                    <a:alpha val="90000"/>
                  </a:srgbClr>
                </a:solidFill>
              </a:rPr>
              <a:t>Research Question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785813" y="3352121"/>
            <a:ext cx="465772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What factors are most correlated with severe accidents in Great Britain?</a:t>
            </a:r>
            <a:endParaRPr lang="en-US" sz="1193" dirty="0"/>
          </a:p>
        </p:txBody>
      </p:sp>
      <p:sp>
        <p:nvSpPr>
          <p:cNvPr id="13" name="Shape 9"/>
          <p:cNvSpPr/>
          <p:nvPr/>
        </p:nvSpPr>
        <p:spPr>
          <a:xfrm>
            <a:off x="571500" y="4055055"/>
            <a:ext cx="5086350" cy="7543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4055055"/>
            <a:ext cx="21431" cy="754363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4178284"/>
            <a:ext cx="91083" cy="1214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5458" y="4153281"/>
            <a:ext cx="73279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424242"/>
                </a:solidFill>
              </a:rPr>
              <a:t>Motivation: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1538250" y="4153281"/>
            <a:ext cx="345715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24242"/>
                </a:solidFill>
              </a:rPr>
              <a:t>Traffic accidents cause over 3,000 deaths annually in the UK.</a:t>
            </a:r>
            <a:endParaRPr lang="en-US" sz="888" dirty="0"/>
          </a:p>
        </p:txBody>
      </p:sp>
      <p:sp>
        <p:nvSpPr>
          <p:cNvPr id="18" name="Text 13"/>
          <p:cNvSpPr/>
          <p:nvPr/>
        </p:nvSpPr>
        <p:spPr>
          <a:xfrm>
            <a:off x="714375" y="4347586"/>
            <a:ext cx="462848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24242"/>
                </a:solidFill>
              </a:rPr>
              <a:t>Understanding severity factors can inform targeted safety interventions and save</a:t>
            </a:r>
            <a:endParaRPr lang="en-US" sz="888" dirty="0"/>
          </a:p>
        </p:txBody>
      </p:sp>
      <p:sp>
        <p:nvSpPr>
          <p:cNvPr id="19" name="Text 14"/>
          <p:cNvSpPr/>
          <p:nvPr/>
        </p:nvSpPr>
        <p:spPr>
          <a:xfrm>
            <a:off x="714375" y="4541890"/>
            <a:ext cx="28357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24242"/>
                </a:solidFill>
              </a:rPr>
              <a:t>lives.</a:t>
            </a:r>
            <a:endParaRPr lang="en-US" sz="888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66593"/>
            <a:ext cx="166092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9030" y="5074630"/>
            <a:ext cx="20643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976D2"/>
                </a:solidFill>
              </a:rPr>
              <a:t>GitHub Repository: [Your GitHub Link]</a:t>
            </a:r>
            <a:endParaRPr lang="en-US" sz="784" dirty="0"/>
          </a:p>
        </p:txBody>
      </p:sp>
      <p:sp>
        <p:nvSpPr>
          <p:cNvPr id="22" name="Shape 16"/>
          <p:cNvSpPr/>
          <p:nvPr/>
        </p:nvSpPr>
        <p:spPr>
          <a:xfrm>
            <a:off x="5943600" y="0"/>
            <a:ext cx="3200400" cy="5238043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3" name="Shape 17"/>
          <p:cNvSpPr/>
          <p:nvPr/>
        </p:nvSpPr>
        <p:spPr>
          <a:xfrm>
            <a:off x="4343400" y="-2618994"/>
            <a:ext cx="6400800" cy="10476086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128" y="1976084"/>
            <a:ext cx="1607344" cy="128587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115175" y="1435838"/>
            <a:ext cx="857250" cy="85725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9488" y="1650150"/>
            <a:ext cx="428625" cy="428625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966077" y="2435963"/>
            <a:ext cx="1155446" cy="366117"/>
          </a:xfrm>
          <a:prstGeom prst="round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6966077" y="2435963"/>
            <a:ext cx="1155446" cy="366117"/>
          </a:xfrm>
          <a:prstGeom prst="rect">
            <a:avLst/>
          </a:prstGeom>
          <a:noFill/>
          <a:ln/>
        </p:spPr>
        <p:txBody>
          <a:bodyPr wrap="square" lIns="255143" tIns="102108" rIns="255143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2024 DATA</a:t>
            </a:r>
            <a:endParaRPr lang="en-US" sz="987" dirty="0"/>
          </a:p>
        </p:txBody>
      </p:sp>
      <p:sp>
        <p:nvSpPr>
          <p:cNvPr id="29" name="Shape 21"/>
          <p:cNvSpPr/>
          <p:nvPr/>
        </p:nvSpPr>
        <p:spPr>
          <a:xfrm>
            <a:off x="7115175" y="2944955"/>
            <a:ext cx="857250" cy="85725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277" y="3159268"/>
            <a:ext cx="375047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44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1A237E"/>
                </a:solidFill>
              </a:rPr>
              <a:t>Dataset and Methodology</a:t>
            </a:r>
            <a:endParaRPr lang="en-US" sz="191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73336"/>
            <a:ext cx="150019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794" y="941189"/>
            <a:ext cx="10300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Data Source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428625" y="1360884"/>
            <a:ext cx="4000500" cy="10672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3"/>
          <p:cNvSpPr/>
          <p:nvPr/>
        </p:nvSpPr>
        <p:spPr>
          <a:xfrm>
            <a:off x="571500" y="1525191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Source: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1571625" y="1525191"/>
            <a:ext cx="157335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UK Department for Transport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571500" y="1765204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Dataset: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1571625" y="1765204"/>
            <a:ext cx="160145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Road Safety Open Data (2024)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571500" y="2005217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System: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1571625" y="2005217"/>
            <a:ext cx="144407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STATS19 collision reporting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571500" y="2245230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License: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1571625" y="2245230"/>
            <a:ext cx="142646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Open Government Licence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428625" y="2570969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Dataset Characteristics</a:t>
            </a:r>
            <a:endParaRPr lang="en-US" sz="885" dirty="0"/>
          </a:p>
        </p:txBody>
      </p:sp>
      <p:sp>
        <p:nvSpPr>
          <p:cNvPr id="16" name="Shape 12"/>
          <p:cNvSpPr/>
          <p:nvPr/>
        </p:nvSpPr>
        <p:spPr>
          <a:xfrm>
            <a:off x="428625" y="2831716"/>
            <a:ext cx="4000500" cy="10672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3"/>
          <p:cNvSpPr/>
          <p:nvPr/>
        </p:nvSpPr>
        <p:spPr>
          <a:xfrm>
            <a:off x="571500" y="2996022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Original records: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1571625" y="2996022"/>
            <a:ext cx="94389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100,927 collisions</a:t>
            </a:r>
            <a:endParaRPr lang="en-US" sz="834" dirty="0"/>
          </a:p>
        </p:txBody>
      </p:sp>
      <p:sp>
        <p:nvSpPr>
          <p:cNvPr id="19" name="Text 15"/>
          <p:cNvSpPr/>
          <p:nvPr/>
        </p:nvSpPr>
        <p:spPr>
          <a:xfrm>
            <a:off x="571500" y="3236035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Cleaned records:</a:t>
            </a:r>
            <a:endParaRPr lang="en-US" sz="784" dirty="0"/>
          </a:p>
        </p:txBody>
      </p:sp>
      <p:sp>
        <p:nvSpPr>
          <p:cNvPr id="20" name="Text 16"/>
          <p:cNvSpPr/>
          <p:nvPr/>
        </p:nvSpPr>
        <p:spPr>
          <a:xfrm>
            <a:off x="1571625" y="3236035"/>
            <a:ext cx="87851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26,516 collisions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571500" y="3476048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Features: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1571625" y="3476048"/>
            <a:ext cx="155837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19 selected from 44 available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571500" y="3716062"/>
            <a:ext cx="1000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Coverage: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1571625" y="3716062"/>
            <a:ext cx="146854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Great Britain, full year 2024</a:t>
            </a:r>
            <a:endParaRPr lang="en-US" sz="834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006081"/>
            <a:ext cx="4000500" cy="1214438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973336"/>
            <a:ext cx="214313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986338" y="941189"/>
            <a:ext cx="19876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Methodology Overview</a:t>
            </a:r>
            <a:endParaRPr lang="en-US" sz="1193" dirty="0"/>
          </a:p>
        </p:txBody>
      </p:sp>
      <p:sp>
        <p:nvSpPr>
          <p:cNvPr id="28" name="Shape 22"/>
          <p:cNvSpPr/>
          <p:nvPr/>
        </p:nvSpPr>
        <p:spPr>
          <a:xfrm>
            <a:off x="4714875" y="1360884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9" name="Text 23"/>
          <p:cNvSpPr/>
          <p:nvPr/>
        </p:nvSpPr>
        <p:spPr>
          <a:xfrm>
            <a:off x="4714875" y="13608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30" name="Text 24"/>
          <p:cNvSpPr/>
          <p:nvPr/>
        </p:nvSpPr>
        <p:spPr>
          <a:xfrm>
            <a:off x="5029200" y="1360884"/>
            <a:ext cx="3492791" cy="21858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Data cleaning and preparation (handling missing values, outliers)</a:t>
            </a:r>
            <a:endParaRPr lang="en-US" sz="834" dirty="0"/>
          </a:p>
        </p:txBody>
      </p:sp>
      <p:sp>
        <p:nvSpPr>
          <p:cNvPr id="31" name="Shape 25"/>
          <p:cNvSpPr/>
          <p:nvPr/>
        </p:nvSpPr>
        <p:spPr>
          <a:xfrm>
            <a:off x="4714875" y="1675209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2" name="Text 26"/>
          <p:cNvSpPr/>
          <p:nvPr/>
        </p:nvSpPr>
        <p:spPr>
          <a:xfrm>
            <a:off x="4714875" y="167520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33" name="Text 27"/>
          <p:cNvSpPr/>
          <p:nvPr/>
        </p:nvSpPr>
        <p:spPr>
          <a:xfrm>
            <a:off x="5029200" y="1675209"/>
            <a:ext cx="2762650" cy="21858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Exploratory Data Analysis (EDA) with statistical tests</a:t>
            </a:r>
            <a:endParaRPr lang="en-US" sz="834" dirty="0"/>
          </a:p>
        </p:txBody>
      </p:sp>
      <p:sp>
        <p:nvSpPr>
          <p:cNvPr id="34" name="Shape 28"/>
          <p:cNvSpPr/>
          <p:nvPr/>
        </p:nvSpPr>
        <p:spPr>
          <a:xfrm>
            <a:off x="4714875" y="1989534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5" name="Text 29"/>
          <p:cNvSpPr/>
          <p:nvPr/>
        </p:nvSpPr>
        <p:spPr>
          <a:xfrm>
            <a:off x="4714875" y="198953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36" name="Text 30"/>
          <p:cNvSpPr/>
          <p:nvPr/>
        </p:nvSpPr>
        <p:spPr>
          <a:xfrm>
            <a:off x="5029200" y="1989534"/>
            <a:ext cx="2046098" cy="21858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Feature encoding (Label and One-Hot)</a:t>
            </a:r>
            <a:endParaRPr lang="en-US" sz="834" dirty="0"/>
          </a:p>
        </p:txBody>
      </p:sp>
      <p:sp>
        <p:nvSpPr>
          <p:cNvPr id="37" name="Shape 31"/>
          <p:cNvSpPr/>
          <p:nvPr/>
        </p:nvSpPr>
        <p:spPr>
          <a:xfrm>
            <a:off x="4714875" y="2303859"/>
            <a:ext cx="228600" cy="2286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8" name="Text 32"/>
          <p:cNvSpPr/>
          <p:nvPr/>
        </p:nvSpPr>
        <p:spPr>
          <a:xfrm>
            <a:off x="4714875" y="230385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39" name="Text 33"/>
          <p:cNvSpPr/>
          <p:nvPr/>
        </p:nvSpPr>
        <p:spPr>
          <a:xfrm>
            <a:off x="5029200" y="2303859"/>
            <a:ext cx="3455175" cy="21858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Principal Component Analysis (PCA) for dimensionality reduction</a:t>
            </a:r>
            <a:endParaRPr lang="en-US" sz="834" dirty="0"/>
          </a:p>
        </p:txBody>
      </p:sp>
      <p:sp>
        <p:nvSpPr>
          <p:cNvPr id="40" name="Text 34"/>
          <p:cNvSpPr/>
          <p:nvPr/>
        </p:nvSpPr>
        <p:spPr>
          <a:xfrm>
            <a:off x="4714875" y="2675334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Severity Classification</a:t>
            </a:r>
            <a:endParaRPr lang="en-US" sz="885" dirty="0"/>
          </a:p>
        </p:txBody>
      </p:sp>
      <p:sp>
        <p:nvSpPr>
          <p:cNvPr id="41" name="Shape 35"/>
          <p:cNvSpPr/>
          <p:nvPr/>
        </p:nvSpPr>
        <p:spPr>
          <a:xfrm>
            <a:off x="4714875" y="2957513"/>
            <a:ext cx="1946672" cy="7340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Shape 36"/>
          <p:cNvSpPr/>
          <p:nvPr/>
        </p:nvSpPr>
        <p:spPr>
          <a:xfrm>
            <a:off x="4714875" y="2957513"/>
            <a:ext cx="1946672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3" name="Text 37"/>
          <p:cNvSpPr/>
          <p:nvPr/>
        </p:nvSpPr>
        <p:spPr>
          <a:xfrm>
            <a:off x="4843463" y="3064669"/>
            <a:ext cx="16894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Fatal</a:t>
            </a:r>
            <a:endParaRPr lang="en-US" sz="784" dirty="0"/>
          </a:p>
        </p:txBody>
      </p:sp>
      <p:sp>
        <p:nvSpPr>
          <p:cNvPr id="44" name="Text 38"/>
          <p:cNvSpPr/>
          <p:nvPr/>
        </p:nvSpPr>
        <p:spPr>
          <a:xfrm>
            <a:off x="4843463" y="3277195"/>
            <a:ext cx="16894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</a:rPr>
              <a:t>176</a:t>
            </a:r>
            <a:endParaRPr lang="en-US" sz="1090" dirty="0"/>
          </a:p>
        </p:txBody>
      </p:sp>
      <p:sp>
        <p:nvSpPr>
          <p:cNvPr id="45" name="Text 39"/>
          <p:cNvSpPr/>
          <p:nvPr/>
        </p:nvSpPr>
        <p:spPr>
          <a:xfrm>
            <a:off x="4843463" y="3527227"/>
            <a:ext cx="16894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0.66%</a:t>
            </a:r>
            <a:endParaRPr lang="en-US" sz="727" dirty="0"/>
          </a:p>
        </p:txBody>
      </p:sp>
      <p:sp>
        <p:nvSpPr>
          <p:cNvPr id="46" name="Shape 40"/>
          <p:cNvSpPr/>
          <p:nvPr/>
        </p:nvSpPr>
        <p:spPr>
          <a:xfrm>
            <a:off x="6768703" y="2957513"/>
            <a:ext cx="1946672" cy="7340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7" name="Shape 41"/>
          <p:cNvSpPr/>
          <p:nvPr/>
        </p:nvSpPr>
        <p:spPr>
          <a:xfrm>
            <a:off x="6768703" y="2957513"/>
            <a:ext cx="1946672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8" name="Text 42"/>
          <p:cNvSpPr/>
          <p:nvPr/>
        </p:nvSpPr>
        <p:spPr>
          <a:xfrm>
            <a:off x="6897291" y="3064669"/>
            <a:ext cx="16894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Serious</a:t>
            </a:r>
            <a:endParaRPr lang="en-US" sz="784" dirty="0"/>
          </a:p>
        </p:txBody>
      </p:sp>
      <p:sp>
        <p:nvSpPr>
          <p:cNvPr id="49" name="Text 43"/>
          <p:cNvSpPr/>
          <p:nvPr/>
        </p:nvSpPr>
        <p:spPr>
          <a:xfrm>
            <a:off x="6897291" y="3277195"/>
            <a:ext cx="16894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</a:rPr>
              <a:t>4,825</a:t>
            </a:r>
            <a:endParaRPr lang="en-US" sz="1090" dirty="0"/>
          </a:p>
        </p:txBody>
      </p:sp>
      <p:sp>
        <p:nvSpPr>
          <p:cNvPr id="50" name="Text 44"/>
          <p:cNvSpPr/>
          <p:nvPr/>
        </p:nvSpPr>
        <p:spPr>
          <a:xfrm>
            <a:off x="6897291" y="3527227"/>
            <a:ext cx="16894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18.20%</a:t>
            </a:r>
            <a:endParaRPr lang="en-US" sz="727" dirty="0"/>
          </a:p>
        </p:txBody>
      </p:sp>
      <p:sp>
        <p:nvSpPr>
          <p:cNvPr id="51" name="Shape 45"/>
          <p:cNvSpPr/>
          <p:nvPr/>
        </p:nvSpPr>
        <p:spPr>
          <a:xfrm>
            <a:off x="4714875" y="3770114"/>
            <a:ext cx="1946672" cy="7340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2" name="Shape 46"/>
          <p:cNvSpPr/>
          <p:nvPr/>
        </p:nvSpPr>
        <p:spPr>
          <a:xfrm>
            <a:off x="4714875" y="3770114"/>
            <a:ext cx="1946672" cy="2857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3" name="Text 47"/>
          <p:cNvSpPr/>
          <p:nvPr/>
        </p:nvSpPr>
        <p:spPr>
          <a:xfrm>
            <a:off x="4843463" y="3877270"/>
            <a:ext cx="16894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Slight</a:t>
            </a:r>
            <a:endParaRPr lang="en-US" sz="784" dirty="0"/>
          </a:p>
        </p:txBody>
      </p:sp>
      <p:sp>
        <p:nvSpPr>
          <p:cNvPr id="54" name="Text 48"/>
          <p:cNvSpPr/>
          <p:nvPr/>
        </p:nvSpPr>
        <p:spPr>
          <a:xfrm>
            <a:off x="4843463" y="4089797"/>
            <a:ext cx="16894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32F2F"/>
                </a:solidFill>
              </a:rPr>
              <a:t>21,515</a:t>
            </a:r>
            <a:endParaRPr lang="en-US" sz="1090" dirty="0"/>
          </a:p>
        </p:txBody>
      </p:sp>
      <p:sp>
        <p:nvSpPr>
          <p:cNvPr id="55" name="Text 49"/>
          <p:cNvSpPr/>
          <p:nvPr/>
        </p:nvSpPr>
        <p:spPr>
          <a:xfrm>
            <a:off x="4843463" y="4339828"/>
            <a:ext cx="16894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81.14%</a:t>
            </a:r>
            <a:endParaRPr lang="en-US" sz="727" dirty="0"/>
          </a:p>
        </p:txBody>
      </p:sp>
      <p:sp>
        <p:nvSpPr>
          <p:cNvPr id="56" name="Shape 50"/>
          <p:cNvSpPr/>
          <p:nvPr/>
        </p:nvSpPr>
        <p:spPr>
          <a:xfrm>
            <a:off x="6768703" y="3770114"/>
            <a:ext cx="1946672" cy="7340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7" name="Shape 51"/>
          <p:cNvSpPr/>
          <p:nvPr/>
        </p:nvSpPr>
        <p:spPr>
          <a:xfrm>
            <a:off x="6768703" y="3770114"/>
            <a:ext cx="1946672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8" name="Text 52"/>
          <p:cNvSpPr/>
          <p:nvPr/>
        </p:nvSpPr>
        <p:spPr>
          <a:xfrm>
            <a:off x="6897291" y="3877270"/>
            <a:ext cx="16894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Total Severe</a:t>
            </a:r>
            <a:endParaRPr lang="en-US" sz="784" dirty="0"/>
          </a:p>
        </p:txBody>
      </p:sp>
      <p:sp>
        <p:nvSpPr>
          <p:cNvPr id="59" name="Text 53"/>
          <p:cNvSpPr/>
          <p:nvPr/>
        </p:nvSpPr>
        <p:spPr>
          <a:xfrm>
            <a:off x="6897291" y="4089797"/>
            <a:ext cx="16894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976D2"/>
                </a:solidFill>
              </a:rPr>
              <a:t>5,001</a:t>
            </a:r>
            <a:endParaRPr lang="en-US" sz="1090" dirty="0"/>
          </a:p>
        </p:txBody>
      </p:sp>
      <p:sp>
        <p:nvSpPr>
          <p:cNvPr id="60" name="Text 54"/>
          <p:cNvSpPr/>
          <p:nvPr/>
        </p:nvSpPr>
        <p:spPr>
          <a:xfrm>
            <a:off x="6897291" y="4339828"/>
            <a:ext cx="16894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18.86%</a:t>
            </a:r>
            <a:endParaRPr lang="en-US" sz="727" dirty="0"/>
          </a:p>
        </p:txBody>
      </p:sp>
      <p:sp>
        <p:nvSpPr>
          <p:cNvPr id="61" name="Shape 55"/>
          <p:cNvSpPr/>
          <p:nvPr/>
        </p:nvSpPr>
        <p:spPr>
          <a:xfrm>
            <a:off x="4714875" y="4582716"/>
            <a:ext cx="4000500" cy="42862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2" name="Shape 56"/>
          <p:cNvSpPr/>
          <p:nvPr/>
        </p:nvSpPr>
        <p:spPr>
          <a:xfrm>
            <a:off x="4714875" y="4582716"/>
            <a:ext cx="28575" cy="428625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4697016"/>
            <a:ext cx="114300" cy="114300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4936331" y="4675584"/>
            <a:ext cx="3490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Binary target variable created: is_severe (0=Slight, 1=Severe)</a:t>
            </a:r>
            <a:endParaRPr lang="en-US" sz="784" dirty="0"/>
          </a:p>
        </p:txBody>
      </p:sp>
      <p:sp>
        <p:nvSpPr>
          <p:cNvPr id="65" name="Text 58"/>
          <p:cNvSpPr/>
          <p:nvPr/>
        </p:nvSpPr>
        <p:spPr>
          <a:xfrm>
            <a:off x="4822031" y="4675584"/>
            <a:ext cx="3772040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for clearer risk factor analysis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1A237E"/>
                </a:solidFill>
              </a:rPr>
              <a:t>Data Preparation Challenges</a:t>
            </a:r>
            <a:endParaRPr lang="en-US" sz="1912" dirty="0"/>
          </a:p>
        </p:txBody>
      </p:sp>
      <p:sp>
        <p:nvSpPr>
          <p:cNvPr id="4" name="Shape 1"/>
          <p:cNvSpPr/>
          <p:nvPr/>
        </p:nvSpPr>
        <p:spPr>
          <a:xfrm>
            <a:off x="428625" y="905470"/>
            <a:ext cx="5381616" cy="14037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05470"/>
            <a:ext cx="35719" cy="1403747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Shape 3"/>
          <p:cNvSpPr/>
          <p:nvPr/>
        </p:nvSpPr>
        <p:spPr>
          <a:xfrm>
            <a:off x="607219" y="991195"/>
            <a:ext cx="257175" cy="257175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055489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119" y="1022449"/>
            <a:ext cx="26734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Challenge 1: Missing and Invalid Data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607219" y="1294805"/>
            <a:ext cx="47469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Dataset uses code -1 for unknown/invalid values found in 9 columns with varying percentages.</a:t>
            </a:r>
            <a:endParaRPr lang="en-US" sz="78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514475"/>
            <a:ext cx="107156" cy="1071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4375" y="1493044"/>
            <a:ext cx="5027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1976D2"/>
                </a:solidFill>
              </a:rPr>
              <a:t>Solution:</a:t>
            </a:r>
            <a:endParaRPr lang="en-US" sz="734" dirty="0"/>
          </a:p>
        </p:txBody>
      </p:sp>
      <p:sp>
        <p:nvSpPr>
          <p:cNvPr id="12" name="Text 7"/>
          <p:cNvSpPr/>
          <p:nvPr/>
        </p:nvSpPr>
        <p:spPr>
          <a:xfrm>
            <a:off x="607219" y="1648420"/>
            <a:ext cx="37402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Removed rows with -1 in critical columns (junction_detail, junction_control,</a:t>
            </a:r>
            <a:endParaRPr lang="en-US" sz="780" dirty="0"/>
          </a:p>
        </p:txBody>
      </p:sp>
      <p:sp>
        <p:nvSpPr>
          <p:cNvPr id="13" name="Text 8"/>
          <p:cNvSpPr/>
          <p:nvPr/>
        </p:nvSpPr>
        <p:spPr>
          <a:xfrm>
            <a:off x="607219" y="1803797"/>
            <a:ext cx="13497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special_conditions_at_site).</a:t>
            </a:r>
            <a:endParaRPr lang="en-US" sz="78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023467"/>
            <a:ext cx="107156" cy="1071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4375" y="2002036"/>
            <a:ext cx="3953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1A237E"/>
                </a:solidFill>
              </a:rPr>
              <a:t>Result:</a:t>
            </a:r>
            <a:endParaRPr lang="en-US" sz="734" dirty="0"/>
          </a:p>
        </p:txBody>
      </p:sp>
      <p:sp>
        <p:nvSpPr>
          <p:cNvPr id="16" name="Text 10"/>
          <p:cNvSpPr/>
          <p:nvPr/>
        </p:nvSpPr>
        <p:spPr>
          <a:xfrm>
            <a:off x="607219" y="2157413"/>
            <a:ext cx="347016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Reduced from 100,927 to 26,516 rows while maintaining data quality.</a:t>
            </a:r>
            <a:endParaRPr lang="en-US" sz="780" dirty="0"/>
          </a:p>
        </p:txBody>
      </p:sp>
      <p:sp>
        <p:nvSpPr>
          <p:cNvPr id="17" name="Shape 11"/>
          <p:cNvSpPr/>
          <p:nvPr/>
        </p:nvSpPr>
        <p:spPr>
          <a:xfrm>
            <a:off x="428625" y="2380655"/>
            <a:ext cx="5381616" cy="124837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2"/>
          <p:cNvSpPr/>
          <p:nvPr/>
        </p:nvSpPr>
        <p:spPr>
          <a:xfrm>
            <a:off x="428625" y="2380655"/>
            <a:ext cx="35719" cy="124837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9" name="Shape 13"/>
          <p:cNvSpPr/>
          <p:nvPr/>
        </p:nvSpPr>
        <p:spPr>
          <a:xfrm>
            <a:off x="607219" y="2466380"/>
            <a:ext cx="257175" cy="257175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39" y="2530673"/>
            <a:ext cx="160734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0119" y="2497634"/>
            <a:ext cx="32679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Challenge 2: Imbalanced Severity Distribution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607219" y="2769989"/>
            <a:ext cx="26526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Only 18.86% of accidents are severe (Fatal + Serious).</a:t>
            </a:r>
            <a:endParaRPr lang="en-US" sz="78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2989659"/>
            <a:ext cx="107156" cy="1071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4375" y="2968228"/>
            <a:ext cx="5027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1976D2"/>
                </a:solidFill>
              </a:rPr>
              <a:t>Solution:</a:t>
            </a:r>
            <a:endParaRPr lang="en-US" sz="734" dirty="0"/>
          </a:p>
        </p:txBody>
      </p:sp>
      <p:sp>
        <p:nvSpPr>
          <p:cNvPr id="25" name="Text 17"/>
          <p:cNvSpPr/>
          <p:nvPr/>
        </p:nvSpPr>
        <p:spPr>
          <a:xfrm>
            <a:off x="607219" y="3123605"/>
            <a:ext cx="30576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Created binary target variable: is_severe (0=Slight, 1=Severe).</a:t>
            </a:r>
            <a:endParaRPr lang="en-US" sz="78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343275"/>
            <a:ext cx="107156" cy="1071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14375" y="3321844"/>
            <a:ext cx="3953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1A237E"/>
                </a:solidFill>
              </a:rPr>
              <a:t>Result:</a:t>
            </a:r>
            <a:endParaRPr lang="en-US" sz="734" dirty="0"/>
          </a:p>
        </p:txBody>
      </p:sp>
      <p:sp>
        <p:nvSpPr>
          <p:cNvPr id="28" name="Text 19"/>
          <p:cNvSpPr/>
          <p:nvPr/>
        </p:nvSpPr>
        <p:spPr>
          <a:xfrm>
            <a:off x="607219" y="3477220"/>
            <a:ext cx="19343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Enables clearer analysis of risk factors.</a:t>
            </a:r>
            <a:endParaRPr lang="en-US" sz="780" dirty="0"/>
          </a:p>
        </p:txBody>
      </p:sp>
      <p:sp>
        <p:nvSpPr>
          <p:cNvPr id="29" name="Shape 20"/>
          <p:cNvSpPr/>
          <p:nvPr/>
        </p:nvSpPr>
        <p:spPr>
          <a:xfrm>
            <a:off x="6024553" y="834033"/>
            <a:ext cx="2690794" cy="1750219"/>
          </a:xfrm>
          <a:prstGeom prst="rect">
            <a:avLst/>
          </a:prstGeom>
          <a:solidFill>
            <a:srgbClr val="FFFFFF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6167428" y="948333"/>
            <a:ext cx="24050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Data Quality Metrics</a:t>
            </a:r>
            <a:endParaRPr lang="en-US" sz="1090" dirty="0"/>
          </a:p>
        </p:txBody>
      </p:sp>
      <p:sp>
        <p:nvSpPr>
          <p:cNvPr id="31" name="Text 22"/>
          <p:cNvSpPr/>
          <p:nvPr/>
        </p:nvSpPr>
        <p:spPr>
          <a:xfrm>
            <a:off x="6167428" y="1343918"/>
            <a:ext cx="7726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Missing Values</a:t>
            </a:r>
            <a:endParaRPr lang="en-US" sz="734" dirty="0"/>
          </a:p>
        </p:txBody>
      </p:sp>
      <p:sp>
        <p:nvSpPr>
          <p:cNvPr id="32" name="Text 23"/>
          <p:cNvSpPr/>
          <p:nvPr/>
        </p:nvSpPr>
        <p:spPr>
          <a:xfrm>
            <a:off x="8488728" y="1319808"/>
            <a:ext cx="837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0</a:t>
            </a:r>
            <a:endParaRPr lang="en-US" sz="987" dirty="0"/>
          </a:p>
        </p:txBody>
      </p:sp>
      <p:sp>
        <p:nvSpPr>
          <p:cNvPr id="33" name="Text 24"/>
          <p:cNvSpPr/>
          <p:nvPr/>
        </p:nvSpPr>
        <p:spPr>
          <a:xfrm>
            <a:off x="6167428" y="1667173"/>
            <a:ext cx="94202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Duplicate Records</a:t>
            </a:r>
            <a:endParaRPr lang="en-US" sz="734" dirty="0"/>
          </a:p>
        </p:txBody>
      </p:sp>
      <p:sp>
        <p:nvSpPr>
          <p:cNvPr id="34" name="Text 25"/>
          <p:cNvSpPr/>
          <p:nvPr/>
        </p:nvSpPr>
        <p:spPr>
          <a:xfrm>
            <a:off x="8488728" y="1643063"/>
            <a:ext cx="837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0</a:t>
            </a:r>
            <a:endParaRPr lang="en-US" sz="987" dirty="0"/>
          </a:p>
        </p:txBody>
      </p:sp>
      <p:sp>
        <p:nvSpPr>
          <p:cNvPr id="35" name="Text 26"/>
          <p:cNvSpPr/>
          <p:nvPr/>
        </p:nvSpPr>
        <p:spPr>
          <a:xfrm>
            <a:off x="6167428" y="1990427"/>
            <a:ext cx="9234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Features Selected</a:t>
            </a:r>
            <a:endParaRPr lang="en-US" sz="734" dirty="0"/>
          </a:p>
        </p:txBody>
      </p:sp>
      <p:sp>
        <p:nvSpPr>
          <p:cNvPr id="36" name="Text 27"/>
          <p:cNvSpPr/>
          <p:nvPr/>
        </p:nvSpPr>
        <p:spPr>
          <a:xfrm>
            <a:off x="8405013" y="1966317"/>
            <a:ext cx="1674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19</a:t>
            </a:r>
            <a:endParaRPr lang="en-US" sz="987" dirty="0"/>
          </a:p>
        </p:txBody>
      </p:sp>
      <p:sp>
        <p:nvSpPr>
          <p:cNvPr id="37" name="Text 28"/>
          <p:cNvSpPr/>
          <p:nvPr/>
        </p:nvSpPr>
        <p:spPr>
          <a:xfrm>
            <a:off x="6167428" y="2313682"/>
            <a:ext cx="6942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Final Records</a:t>
            </a:r>
            <a:endParaRPr lang="en-US" sz="734" dirty="0"/>
          </a:p>
        </p:txBody>
      </p:sp>
      <p:sp>
        <p:nvSpPr>
          <p:cNvPr id="38" name="Text 29"/>
          <p:cNvSpPr/>
          <p:nvPr/>
        </p:nvSpPr>
        <p:spPr>
          <a:xfrm>
            <a:off x="8109691" y="2289572"/>
            <a:ext cx="4627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26,516</a:t>
            </a:r>
            <a:endParaRPr lang="en-US" sz="987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553" y="2627114"/>
            <a:ext cx="2690794" cy="121443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6024553" y="3946922"/>
            <a:ext cx="2690794" cy="11572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1" name="Shape 31"/>
          <p:cNvSpPr/>
          <p:nvPr/>
        </p:nvSpPr>
        <p:spPr>
          <a:xfrm>
            <a:off x="6024553" y="3946922"/>
            <a:ext cx="35719" cy="1157288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3147" y="4059436"/>
            <a:ext cx="142875" cy="14287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346022" y="4032647"/>
            <a:ext cx="14891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Feature Engineering</a:t>
            </a:r>
            <a:endParaRPr lang="en-US" sz="987" dirty="0"/>
          </a:p>
        </p:txBody>
      </p:sp>
      <p:sp>
        <p:nvSpPr>
          <p:cNvPr id="44" name="Text 33"/>
          <p:cNvSpPr/>
          <p:nvPr/>
        </p:nvSpPr>
        <p:spPr>
          <a:xfrm>
            <a:off x="6203147" y="4270177"/>
            <a:ext cx="233360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•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Created is_weekend indicator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(Saturday/Sunday)</a:t>
            </a:r>
            <a:endParaRPr lang="en-US" sz="734" dirty="0"/>
          </a:p>
        </p:txBody>
      </p:sp>
      <p:sp>
        <p:nvSpPr>
          <p:cNvPr id="45" name="Text 34"/>
          <p:cNvSpPr/>
          <p:nvPr/>
        </p:nvSpPr>
        <p:spPr>
          <a:xfrm>
            <a:off x="6203147" y="4609505"/>
            <a:ext cx="233360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•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Categorized speed limits into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Low/Medium/High/Very High</a:t>
            </a:r>
            <a:endParaRPr lang="en-US" sz="734" dirty="0"/>
          </a:p>
        </p:txBody>
      </p:sp>
      <p:sp>
        <p:nvSpPr>
          <p:cNvPr id="46" name="Text 35"/>
          <p:cNvSpPr/>
          <p:nvPr/>
        </p:nvSpPr>
        <p:spPr>
          <a:xfrm>
            <a:off x="6203147" y="4948833"/>
            <a:ext cx="23336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•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Standardized all numerical features for PCA</a:t>
            </a:r>
            <a:endParaRPr lang="en-US" sz="7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67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1A237E"/>
                </a:solidFill>
              </a:rPr>
              <a:t>Exploratory Data Analysis - Key Findings</a:t>
            </a:r>
            <a:endParaRPr lang="en-US" sz="191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3761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225" y="905470"/>
            <a:ext cx="17218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Correlation Analysis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428625" y="1303734"/>
            <a:ext cx="40183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76D2"/>
                </a:solidFill>
              </a:rPr>
              <a:t>Positive Correlations (Increase Severity)</a:t>
            </a:r>
            <a:endParaRPr lang="en-US" sz="987" dirty="0"/>
          </a:p>
        </p:txBody>
      </p:sp>
      <p:sp>
        <p:nvSpPr>
          <p:cNvPr id="7" name="Shape 3"/>
          <p:cNvSpPr/>
          <p:nvPr/>
        </p:nvSpPr>
        <p:spPr>
          <a:xfrm>
            <a:off x="428625" y="1569839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4"/>
          <p:cNvSpPr/>
          <p:nvPr/>
        </p:nvSpPr>
        <p:spPr>
          <a:xfrm>
            <a:off x="535781" y="1632347"/>
            <a:ext cx="9762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Urban/Rural Area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3879893" y="1612702"/>
            <a:ext cx="4599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+0.047</a:t>
            </a:r>
            <a:endParaRPr lang="en-US" sz="987" dirty="0"/>
          </a:p>
        </p:txBody>
      </p:sp>
      <p:sp>
        <p:nvSpPr>
          <p:cNvPr id="10" name="Shape 6"/>
          <p:cNvSpPr/>
          <p:nvPr/>
        </p:nvSpPr>
        <p:spPr>
          <a:xfrm>
            <a:off x="428625" y="1850231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7"/>
          <p:cNvSpPr/>
          <p:nvPr/>
        </p:nvSpPr>
        <p:spPr>
          <a:xfrm>
            <a:off x="535781" y="1912739"/>
            <a:ext cx="6535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Speed Limit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3879893" y="1893094"/>
            <a:ext cx="4599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+0.041</a:t>
            </a:r>
            <a:endParaRPr lang="en-US" sz="987" dirty="0"/>
          </a:p>
        </p:txBody>
      </p:sp>
      <p:sp>
        <p:nvSpPr>
          <p:cNvPr id="13" name="Shape 9"/>
          <p:cNvSpPr/>
          <p:nvPr/>
        </p:nvSpPr>
        <p:spPr>
          <a:xfrm>
            <a:off x="428625" y="2130623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0"/>
          <p:cNvSpPr/>
          <p:nvPr/>
        </p:nvSpPr>
        <p:spPr>
          <a:xfrm>
            <a:off x="535781" y="2193131"/>
            <a:ext cx="12052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Number of Casualties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3879893" y="2173486"/>
            <a:ext cx="4599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+0.037</a:t>
            </a:r>
            <a:endParaRPr lang="en-US" sz="987" dirty="0"/>
          </a:p>
        </p:txBody>
      </p:sp>
      <p:sp>
        <p:nvSpPr>
          <p:cNvPr id="16" name="Shape 12"/>
          <p:cNvSpPr/>
          <p:nvPr/>
        </p:nvSpPr>
        <p:spPr>
          <a:xfrm>
            <a:off x="428625" y="2411016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3"/>
          <p:cNvSpPr/>
          <p:nvPr/>
        </p:nvSpPr>
        <p:spPr>
          <a:xfrm>
            <a:off x="535781" y="2473523"/>
            <a:ext cx="821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Junction Detail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3879893" y="2453878"/>
            <a:ext cx="4599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+0.033</a:t>
            </a:r>
            <a:endParaRPr lang="en-US" sz="987" dirty="0"/>
          </a:p>
        </p:txBody>
      </p:sp>
      <p:sp>
        <p:nvSpPr>
          <p:cNvPr id="19" name="Shape 15"/>
          <p:cNvSpPr/>
          <p:nvPr/>
        </p:nvSpPr>
        <p:spPr>
          <a:xfrm>
            <a:off x="428625" y="2691408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6"/>
          <p:cNvSpPr/>
          <p:nvPr/>
        </p:nvSpPr>
        <p:spPr>
          <a:xfrm>
            <a:off x="535781" y="2753916"/>
            <a:ext cx="9160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Light Conditions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3879893" y="2734270"/>
            <a:ext cx="4599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+0.026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428625" y="3028950"/>
            <a:ext cx="40183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76D2"/>
                </a:solidFill>
              </a:rPr>
              <a:t>Negative Correlations (Decrease Severity)</a:t>
            </a:r>
            <a:endParaRPr lang="en-US" sz="987" dirty="0"/>
          </a:p>
        </p:txBody>
      </p:sp>
      <p:sp>
        <p:nvSpPr>
          <p:cNvPr id="23" name="Shape 19"/>
          <p:cNvSpPr/>
          <p:nvPr/>
        </p:nvSpPr>
        <p:spPr>
          <a:xfrm>
            <a:off x="428625" y="3295055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0"/>
          <p:cNvSpPr/>
          <p:nvPr/>
        </p:nvSpPr>
        <p:spPr>
          <a:xfrm>
            <a:off x="535781" y="3357563"/>
            <a:ext cx="10892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Number of Vehicles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3918179" y="3337917"/>
            <a:ext cx="4216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76D2"/>
                </a:solidFill>
              </a:rPr>
              <a:t>-0.079</a:t>
            </a:r>
            <a:endParaRPr lang="en-US" sz="987" dirty="0"/>
          </a:p>
        </p:txBody>
      </p:sp>
      <p:sp>
        <p:nvSpPr>
          <p:cNvPr id="26" name="Shape 22"/>
          <p:cNvSpPr/>
          <p:nvPr/>
        </p:nvSpPr>
        <p:spPr>
          <a:xfrm>
            <a:off x="428625" y="3575447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3"/>
          <p:cNvSpPr/>
          <p:nvPr/>
        </p:nvSpPr>
        <p:spPr>
          <a:xfrm>
            <a:off x="535781" y="3637955"/>
            <a:ext cx="1361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Road Surface Conditions</a:t>
            </a:r>
            <a:endParaRPr lang="en-US" sz="784" dirty="0"/>
          </a:p>
        </p:txBody>
      </p:sp>
      <p:sp>
        <p:nvSpPr>
          <p:cNvPr id="28" name="Text 24"/>
          <p:cNvSpPr/>
          <p:nvPr/>
        </p:nvSpPr>
        <p:spPr>
          <a:xfrm>
            <a:off x="3918179" y="3618309"/>
            <a:ext cx="4216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76D2"/>
                </a:solidFill>
              </a:rPr>
              <a:t>-0.055</a:t>
            </a:r>
            <a:endParaRPr lang="en-US" sz="987" dirty="0"/>
          </a:p>
        </p:txBody>
      </p:sp>
      <p:sp>
        <p:nvSpPr>
          <p:cNvPr id="29" name="Shape 25"/>
          <p:cNvSpPr/>
          <p:nvPr/>
        </p:nvSpPr>
        <p:spPr>
          <a:xfrm>
            <a:off x="428625" y="3855839"/>
            <a:ext cx="4018359" cy="23753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Text 26"/>
          <p:cNvSpPr/>
          <p:nvPr/>
        </p:nvSpPr>
        <p:spPr>
          <a:xfrm>
            <a:off x="535781" y="3918347"/>
            <a:ext cx="11056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24242"/>
                </a:solidFill>
              </a:rPr>
              <a:t>Weather Conditions</a:t>
            </a:r>
            <a:endParaRPr lang="en-US" sz="784" dirty="0"/>
          </a:p>
        </p:txBody>
      </p:sp>
      <p:sp>
        <p:nvSpPr>
          <p:cNvPr id="31" name="Text 27"/>
          <p:cNvSpPr/>
          <p:nvPr/>
        </p:nvSpPr>
        <p:spPr>
          <a:xfrm>
            <a:off x="3918179" y="3898702"/>
            <a:ext cx="4216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76D2"/>
                </a:solidFill>
              </a:rPr>
              <a:t>-0.041</a:t>
            </a:r>
            <a:endParaRPr lang="en-US" sz="987" dirty="0"/>
          </a:p>
        </p:txBody>
      </p:sp>
      <p:sp>
        <p:nvSpPr>
          <p:cNvPr id="32" name="Text 28"/>
          <p:cNvSpPr/>
          <p:nvPr/>
        </p:nvSpPr>
        <p:spPr>
          <a:xfrm>
            <a:off x="428625" y="4193381"/>
            <a:ext cx="40183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76D2"/>
                </a:solidFill>
              </a:rPr>
              <a:t>Statistical Significance (Chi-Square Tests)</a:t>
            </a:r>
            <a:endParaRPr lang="en-US" sz="987" dirty="0"/>
          </a:p>
        </p:txBody>
      </p:sp>
      <p:sp>
        <p:nvSpPr>
          <p:cNvPr id="33" name="Shape 29"/>
          <p:cNvSpPr/>
          <p:nvPr/>
        </p:nvSpPr>
        <p:spPr>
          <a:xfrm>
            <a:off x="428625" y="4459486"/>
            <a:ext cx="4018359" cy="10572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Text 30"/>
          <p:cNvSpPr/>
          <p:nvPr/>
        </p:nvSpPr>
        <p:spPr>
          <a:xfrm>
            <a:off x="557213" y="4545211"/>
            <a:ext cx="3761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237E"/>
                </a:solidFill>
              </a:rPr>
              <a:t>Weather Conditions: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χ² = 71.78, p &lt; 0.001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32F2F"/>
                </a:solidFill>
              </a:rPr>
              <a:t>***</a:t>
            </a:r>
            <a:endParaRPr lang="en-US" sz="734" dirty="0"/>
          </a:p>
        </p:txBody>
      </p:sp>
      <p:sp>
        <p:nvSpPr>
          <p:cNvPr id="35" name="Text 31"/>
          <p:cNvSpPr/>
          <p:nvPr/>
        </p:nvSpPr>
        <p:spPr>
          <a:xfrm>
            <a:off x="557213" y="4745236"/>
            <a:ext cx="3761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237E"/>
                </a:solidFill>
              </a:rPr>
              <a:t>Light Conditions: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χ² = 43.66, p &lt; 0.001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32F2F"/>
                </a:solidFill>
              </a:rPr>
              <a:t>***</a:t>
            </a:r>
            <a:endParaRPr lang="en-US" sz="734" dirty="0"/>
          </a:p>
        </p:txBody>
      </p:sp>
      <p:sp>
        <p:nvSpPr>
          <p:cNvPr id="36" name="Text 32"/>
          <p:cNvSpPr/>
          <p:nvPr/>
        </p:nvSpPr>
        <p:spPr>
          <a:xfrm>
            <a:off x="557213" y="4945261"/>
            <a:ext cx="3761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237E"/>
                </a:solidFill>
              </a:rPr>
              <a:t>Road Surface: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χ² = 91.59, p &lt; 0.001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32F2F"/>
                </a:solidFill>
              </a:rPr>
              <a:t>***</a:t>
            </a:r>
            <a:endParaRPr lang="en-US" sz="734" dirty="0"/>
          </a:p>
        </p:txBody>
      </p:sp>
      <p:sp>
        <p:nvSpPr>
          <p:cNvPr id="37" name="Text 33"/>
          <p:cNvSpPr/>
          <p:nvPr/>
        </p:nvSpPr>
        <p:spPr>
          <a:xfrm>
            <a:off x="557213" y="5145286"/>
            <a:ext cx="3761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237E"/>
                </a:solidFill>
              </a:rPr>
              <a:t>Urban/Rural: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χ² = 58.48, p &lt; 0.001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32F2F"/>
                </a:solidFill>
              </a:rPr>
              <a:t>***</a:t>
            </a:r>
            <a:endParaRPr lang="en-US" sz="734" dirty="0"/>
          </a:p>
        </p:txBody>
      </p:sp>
      <p:sp>
        <p:nvSpPr>
          <p:cNvPr id="38" name="Text 34"/>
          <p:cNvSpPr/>
          <p:nvPr/>
        </p:nvSpPr>
        <p:spPr>
          <a:xfrm>
            <a:off x="557213" y="5345311"/>
            <a:ext cx="3761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A237E"/>
                </a:solidFill>
              </a:rPr>
              <a:t>Weekend: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χ² = 5.26, p = 0.022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D32F2F"/>
                </a:solidFill>
              </a:rPr>
              <a:t>*</a:t>
            </a:r>
            <a:endParaRPr lang="en-US" sz="734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016" y="976908"/>
            <a:ext cx="4018359" cy="2143125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4697016" y="3239691"/>
            <a:ext cx="4018359" cy="114657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1" name="Shape 36"/>
          <p:cNvSpPr/>
          <p:nvPr/>
        </p:nvSpPr>
        <p:spPr>
          <a:xfrm>
            <a:off x="4697016" y="3239691"/>
            <a:ext cx="35719" cy="1146572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891" y="3334345"/>
            <a:ext cx="96441" cy="1285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936331" y="3311128"/>
            <a:ext cx="18244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Unusual Pattern Discovered</a:t>
            </a:r>
            <a:endParaRPr lang="en-US" sz="885" dirty="0"/>
          </a:p>
        </p:txBody>
      </p:sp>
      <p:sp>
        <p:nvSpPr>
          <p:cNvPr id="44" name="Text 38"/>
          <p:cNvSpPr/>
          <p:nvPr/>
        </p:nvSpPr>
        <p:spPr>
          <a:xfrm>
            <a:off x="4839891" y="3543300"/>
            <a:ext cx="37326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Accidents with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fewer vehicles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are MORE severe (negative correlation of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-0.079). This counterintuitive finding suggests single-vehicle accidents are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more deadly than multi-vehicle collisions.</a:t>
            </a:r>
            <a:endParaRPr lang="en-US" sz="780" dirty="0"/>
          </a:p>
        </p:txBody>
      </p:sp>
      <p:sp>
        <p:nvSpPr>
          <p:cNvPr id="45" name="Text 39"/>
          <p:cNvSpPr/>
          <p:nvPr/>
        </p:nvSpPr>
        <p:spPr>
          <a:xfrm>
            <a:off x="4839891" y="4114800"/>
            <a:ext cx="373260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i="1" dirty="0">
                <a:solidFill>
                  <a:srgbClr val="1976D2"/>
                </a:solidFill>
              </a:rPr>
              <a:t>Hypothesis:</a:t>
            </a:r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1976D2"/>
                </a:solidFill>
              </a:rPr>
              <a:t> Single-vehicle accidents at high speeds (e.g., rural roads) are more </a:t>
            </a:r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1976D2"/>
                </a:solidFill>
              </a:rPr>
              <a:t>deadly than multi-vehicle urban collisions where speeds are typically lower.</a:t>
            </a:r>
            <a:endParaRPr lang="en-US" sz="683" dirty="0"/>
          </a:p>
        </p:txBody>
      </p:sp>
      <p:sp>
        <p:nvSpPr>
          <p:cNvPr id="46" name="Shape 40"/>
          <p:cNvSpPr/>
          <p:nvPr/>
        </p:nvSpPr>
        <p:spPr>
          <a:xfrm>
            <a:off x="4697016" y="4471988"/>
            <a:ext cx="4018359" cy="817959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7" name="Shape 41"/>
          <p:cNvSpPr/>
          <p:nvPr/>
        </p:nvSpPr>
        <p:spPr>
          <a:xfrm>
            <a:off x="4697016" y="4471988"/>
            <a:ext cx="35719" cy="817959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891" y="4566642"/>
            <a:ext cx="128588" cy="12858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4968478" y="4543425"/>
            <a:ext cx="9349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Key Takeaway</a:t>
            </a:r>
            <a:endParaRPr lang="en-US" sz="885" dirty="0"/>
          </a:p>
        </p:txBody>
      </p:sp>
      <p:sp>
        <p:nvSpPr>
          <p:cNvPr id="50" name="Text 43"/>
          <p:cNvSpPr/>
          <p:nvPr/>
        </p:nvSpPr>
        <p:spPr>
          <a:xfrm>
            <a:off x="4839891" y="4775597"/>
            <a:ext cx="37326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All tested factors are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statistically significant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(p &lt; 0.05), confirming their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relationship with accident severity. Rural areas and high speed limits are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the strongest predictors of severe accidents.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220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1A237E"/>
                </a:solidFill>
              </a:rPr>
              <a:t>Encoding and PCA Implementation</a:t>
            </a:r>
            <a:endParaRPr lang="en-US" sz="191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66180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088" y="834033"/>
            <a:ext cx="15809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Encoding Schemes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428625" y="1203722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1. Label Encoding</a:t>
            </a:r>
            <a:endParaRPr lang="en-US" sz="885" dirty="0"/>
          </a:p>
        </p:txBody>
      </p:sp>
      <p:sp>
        <p:nvSpPr>
          <p:cNvPr id="7" name="Shape 3"/>
          <p:cNvSpPr/>
          <p:nvPr/>
        </p:nvSpPr>
        <p:spPr>
          <a:xfrm>
            <a:off x="428625" y="1450181"/>
            <a:ext cx="4000500" cy="10001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4"/>
          <p:cNvSpPr/>
          <p:nvPr/>
        </p:nvSpPr>
        <p:spPr>
          <a:xfrm>
            <a:off x="542925" y="1564481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Features: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1400175" y="1564481"/>
            <a:ext cx="10983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17 features encoded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542925" y="177879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Method: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1400175" y="1778794"/>
            <a:ext cx="15383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Numerical codes maintained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542925" y="1993106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Use case: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1400175" y="1993106"/>
            <a:ext cx="1017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Tree-based models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42925" y="220741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Advantage: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1400175" y="2207419"/>
            <a:ext cx="16532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Preserves ordinal relationships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428625" y="2507456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2. One-Hot Encoding</a:t>
            </a:r>
            <a:endParaRPr lang="en-US" sz="885" dirty="0"/>
          </a:p>
        </p:txBody>
      </p:sp>
      <p:sp>
        <p:nvSpPr>
          <p:cNvPr id="17" name="Shape 13"/>
          <p:cNvSpPr/>
          <p:nvPr/>
        </p:nvSpPr>
        <p:spPr>
          <a:xfrm>
            <a:off x="428625" y="2753916"/>
            <a:ext cx="4000500" cy="10001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4"/>
          <p:cNvSpPr/>
          <p:nvPr/>
        </p:nvSpPr>
        <p:spPr>
          <a:xfrm>
            <a:off x="542925" y="2868216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Input: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1400175" y="2868216"/>
            <a:ext cx="12234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14 categorical features</a:t>
            </a:r>
            <a:endParaRPr lang="en-US" sz="834" dirty="0"/>
          </a:p>
        </p:txBody>
      </p:sp>
      <p:sp>
        <p:nvSpPr>
          <p:cNvPr id="20" name="Text 16"/>
          <p:cNvSpPr/>
          <p:nvPr/>
        </p:nvSpPr>
        <p:spPr>
          <a:xfrm>
            <a:off x="542925" y="3082528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Output: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1400175" y="3082528"/>
            <a:ext cx="9742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88 binary features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542925" y="3296841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Expansion:</a:t>
            </a:r>
            <a:endParaRPr lang="en-US" sz="784" dirty="0"/>
          </a:p>
        </p:txBody>
      </p:sp>
      <p:sp>
        <p:nvSpPr>
          <p:cNvPr id="23" name="Text 19"/>
          <p:cNvSpPr/>
          <p:nvPr/>
        </p:nvSpPr>
        <p:spPr>
          <a:xfrm>
            <a:off x="1400175" y="3296841"/>
            <a:ext cx="13637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17 → 88 features (+418%)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542925" y="3511153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Use case: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1400175" y="3511153"/>
            <a:ext cx="16932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Linear models, neural networks</a:t>
            </a:r>
            <a:endParaRPr lang="en-US" sz="834" dirty="0"/>
          </a:p>
        </p:txBody>
      </p:sp>
      <p:sp>
        <p:nvSpPr>
          <p:cNvPr id="26" name="Shape 22"/>
          <p:cNvSpPr/>
          <p:nvPr/>
        </p:nvSpPr>
        <p:spPr>
          <a:xfrm>
            <a:off x="428625" y="3825478"/>
            <a:ext cx="4000500" cy="5768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7" name="Text 23"/>
          <p:cNvSpPr/>
          <p:nvPr/>
        </p:nvSpPr>
        <p:spPr>
          <a:xfrm>
            <a:off x="542925" y="3882628"/>
            <a:ext cx="37719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32F2F"/>
                </a:solidFill>
              </a:rPr>
              <a:t>5.2×</a:t>
            </a:r>
            <a:endParaRPr lang="en-US" sz="1602" dirty="0"/>
          </a:p>
        </p:txBody>
      </p:sp>
      <p:sp>
        <p:nvSpPr>
          <p:cNvPr id="28" name="Text 24"/>
          <p:cNvSpPr/>
          <p:nvPr/>
        </p:nvSpPr>
        <p:spPr>
          <a:xfrm>
            <a:off x="542925" y="4209455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1A237E"/>
                </a:solidFill>
              </a:rPr>
              <a:t>Feature Expansion Ratio</a:t>
            </a:r>
            <a:endParaRPr lang="en-US" sz="683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866180"/>
            <a:ext cx="192881" cy="1714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64906" y="834033"/>
            <a:ext cx="10040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PCA Results</a:t>
            </a:r>
            <a:endParaRPr lang="en-US" sz="1193" dirty="0"/>
          </a:p>
        </p:txBody>
      </p:sp>
      <p:sp>
        <p:nvSpPr>
          <p:cNvPr id="31" name="Text 26"/>
          <p:cNvSpPr/>
          <p:nvPr/>
        </p:nvSpPr>
        <p:spPr>
          <a:xfrm>
            <a:off x="4714875" y="1203722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Dimensionality Reduction</a:t>
            </a:r>
            <a:endParaRPr lang="en-US" sz="885" dirty="0"/>
          </a:p>
        </p:txBody>
      </p:sp>
      <p:sp>
        <p:nvSpPr>
          <p:cNvPr id="32" name="Shape 27"/>
          <p:cNvSpPr/>
          <p:nvPr/>
        </p:nvSpPr>
        <p:spPr>
          <a:xfrm>
            <a:off x="4714875" y="1450181"/>
            <a:ext cx="1276331" cy="49649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Text 28"/>
          <p:cNvSpPr/>
          <p:nvPr/>
        </p:nvSpPr>
        <p:spPr>
          <a:xfrm>
            <a:off x="4800600" y="1507331"/>
            <a:ext cx="11048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76D2"/>
                </a:solidFill>
              </a:rPr>
              <a:t>17</a:t>
            </a:r>
            <a:endParaRPr lang="en-US" sz="1193" dirty="0"/>
          </a:p>
        </p:txBody>
      </p:sp>
      <p:sp>
        <p:nvSpPr>
          <p:cNvPr id="34" name="Text 29"/>
          <p:cNvSpPr/>
          <p:nvPr/>
        </p:nvSpPr>
        <p:spPr>
          <a:xfrm>
            <a:off x="4800600" y="1762720"/>
            <a:ext cx="11048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24242"/>
                </a:solidFill>
              </a:rPr>
              <a:t>Original Features</a:t>
            </a:r>
            <a:endParaRPr lang="en-US" sz="634" dirty="0"/>
          </a:p>
        </p:txBody>
      </p:sp>
      <p:sp>
        <p:nvSpPr>
          <p:cNvPr id="35" name="Shape 30"/>
          <p:cNvSpPr/>
          <p:nvPr/>
        </p:nvSpPr>
        <p:spPr>
          <a:xfrm>
            <a:off x="6076931" y="1450181"/>
            <a:ext cx="1276359" cy="49649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Text 31"/>
          <p:cNvSpPr/>
          <p:nvPr/>
        </p:nvSpPr>
        <p:spPr>
          <a:xfrm>
            <a:off x="6162656" y="1507331"/>
            <a:ext cx="11049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76D2"/>
                </a:solidFill>
              </a:rPr>
              <a:t>13</a:t>
            </a:r>
            <a:endParaRPr lang="en-US" sz="1193" dirty="0"/>
          </a:p>
        </p:txBody>
      </p:sp>
      <p:sp>
        <p:nvSpPr>
          <p:cNvPr id="37" name="Text 32"/>
          <p:cNvSpPr/>
          <p:nvPr/>
        </p:nvSpPr>
        <p:spPr>
          <a:xfrm>
            <a:off x="6162656" y="1762720"/>
            <a:ext cx="11049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24242"/>
                </a:solidFill>
              </a:rPr>
              <a:t>PCA Components</a:t>
            </a:r>
            <a:endParaRPr lang="en-US" sz="634" dirty="0"/>
          </a:p>
        </p:txBody>
      </p:sp>
      <p:sp>
        <p:nvSpPr>
          <p:cNvPr id="38" name="Shape 33"/>
          <p:cNvSpPr/>
          <p:nvPr/>
        </p:nvSpPr>
        <p:spPr>
          <a:xfrm>
            <a:off x="7439016" y="1450181"/>
            <a:ext cx="1276359" cy="49649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Text 34"/>
          <p:cNvSpPr/>
          <p:nvPr/>
        </p:nvSpPr>
        <p:spPr>
          <a:xfrm>
            <a:off x="7524741" y="1507331"/>
            <a:ext cx="11049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76D2"/>
                </a:solidFill>
              </a:rPr>
              <a:t>91.76%</a:t>
            </a:r>
            <a:endParaRPr lang="en-US" sz="1193" dirty="0"/>
          </a:p>
        </p:txBody>
      </p:sp>
      <p:sp>
        <p:nvSpPr>
          <p:cNvPr id="40" name="Text 35"/>
          <p:cNvSpPr/>
          <p:nvPr/>
        </p:nvSpPr>
        <p:spPr>
          <a:xfrm>
            <a:off x="7524741" y="1762720"/>
            <a:ext cx="11049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24242"/>
                </a:solidFill>
              </a:rPr>
              <a:t>Variance Retained</a:t>
            </a:r>
            <a:endParaRPr lang="en-US" sz="634" dirty="0"/>
          </a:p>
        </p:txBody>
      </p:sp>
      <p:sp>
        <p:nvSpPr>
          <p:cNvPr id="41" name="Shape 36"/>
          <p:cNvSpPr/>
          <p:nvPr/>
        </p:nvSpPr>
        <p:spPr>
          <a:xfrm>
            <a:off x="4714875" y="2018109"/>
            <a:ext cx="4000500" cy="7858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Text 37"/>
          <p:cNvSpPr/>
          <p:nvPr/>
        </p:nvSpPr>
        <p:spPr>
          <a:xfrm>
            <a:off x="4829175" y="213240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Reduction:</a:t>
            </a:r>
            <a:endParaRPr lang="en-US" sz="784" dirty="0"/>
          </a:p>
        </p:txBody>
      </p:sp>
      <p:sp>
        <p:nvSpPr>
          <p:cNvPr id="43" name="Text 38"/>
          <p:cNvSpPr/>
          <p:nvPr/>
        </p:nvSpPr>
        <p:spPr>
          <a:xfrm>
            <a:off x="5686425" y="2132409"/>
            <a:ext cx="17173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23.53% dimensionality decrease</a:t>
            </a:r>
            <a:endParaRPr lang="en-US" sz="834" dirty="0"/>
          </a:p>
        </p:txBody>
      </p:sp>
      <p:sp>
        <p:nvSpPr>
          <p:cNvPr id="44" name="Text 39"/>
          <p:cNvSpPr/>
          <p:nvPr/>
        </p:nvSpPr>
        <p:spPr>
          <a:xfrm>
            <a:off x="4829175" y="2346722"/>
            <a:ext cx="9795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Information loss:</a:t>
            </a:r>
            <a:endParaRPr lang="en-US" sz="784" dirty="0"/>
          </a:p>
        </p:txBody>
      </p:sp>
      <p:sp>
        <p:nvSpPr>
          <p:cNvPr id="45" name="Text 40"/>
          <p:cNvSpPr/>
          <p:nvPr/>
        </p:nvSpPr>
        <p:spPr>
          <a:xfrm>
            <a:off x="5808734" y="2346722"/>
            <a:ext cx="5991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Only 8.24%</a:t>
            </a:r>
            <a:endParaRPr lang="en-US" sz="834" dirty="0"/>
          </a:p>
        </p:txBody>
      </p:sp>
      <p:sp>
        <p:nvSpPr>
          <p:cNvPr id="46" name="Text 41"/>
          <p:cNvSpPr/>
          <p:nvPr/>
        </p:nvSpPr>
        <p:spPr>
          <a:xfrm>
            <a:off x="4829175" y="2561034"/>
            <a:ext cx="9426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Standardization:</a:t>
            </a:r>
            <a:endParaRPr lang="en-US" sz="784" dirty="0"/>
          </a:p>
        </p:txBody>
      </p:sp>
      <p:sp>
        <p:nvSpPr>
          <p:cNvPr id="47" name="Text 42"/>
          <p:cNvSpPr/>
          <p:nvPr/>
        </p:nvSpPr>
        <p:spPr>
          <a:xfrm>
            <a:off x="5771815" y="2561034"/>
            <a:ext cx="17038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24242"/>
                </a:solidFill>
              </a:rPr>
              <a:t>StandardScaler (mean=0, std=1)</a:t>
            </a:r>
            <a:endParaRPr lang="en-US" sz="834" dirty="0"/>
          </a:p>
        </p:txBody>
      </p:sp>
      <p:sp>
        <p:nvSpPr>
          <p:cNvPr id="48" name="Text 43"/>
          <p:cNvSpPr/>
          <p:nvPr/>
        </p:nvSpPr>
        <p:spPr>
          <a:xfrm>
            <a:off x="4714875" y="2861072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Principal Component Interpretation</a:t>
            </a:r>
            <a:endParaRPr lang="en-US" sz="885" dirty="0"/>
          </a:p>
        </p:txBody>
      </p:sp>
      <p:sp>
        <p:nvSpPr>
          <p:cNvPr id="49" name="Shape 44"/>
          <p:cNvSpPr/>
          <p:nvPr/>
        </p:nvSpPr>
        <p:spPr>
          <a:xfrm>
            <a:off x="4714875" y="3107531"/>
            <a:ext cx="4000500" cy="4125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0" name="Text 45"/>
          <p:cNvSpPr/>
          <p:nvPr/>
        </p:nvSpPr>
        <p:spPr>
          <a:xfrm>
            <a:off x="4800600" y="3150394"/>
            <a:ext cx="3829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PC1 (17.51% variance)</a:t>
            </a:r>
            <a:endParaRPr lang="en-US" sz="784" dirty="0"/>
          </a:p>
        </p:txBody>
      </p:sp>
      <p:sp>
        <p:nvSpPr>
          <p:cNvPr id="51" name="Text 46"/>
          <p:cNvSpPr/>
          <p:nvPr/>
        </p:nvSpPr>
        <p:spPr>
          <a:xfrm>
            <a:off x="4800600" y="3327202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Road and environmental hazards (carriageway, surface, weather)</a:t>
            </a:r>
            <a:endParaRPr lang="en-US" sz="727" dirty="0"/>
          </a:p>
        </p:txBody>
      </p:sp>
      <p:sp>
        <p:nvSpPr>
          <p:cNvPr id="52" name="Shape 47"/>
          <p:cNvSpPr/>
          <p:nvPr/>
        </p:nvSpPr>
        <p:spPr>
          <a:xfrm>
            <a:off x="4714875" y="3562945"/>
            <a:ext cx="4000500" cy="4125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3" name="Text 48"/>
          <p:cNvSpPr/>
          <p:nvPr/>
        </p:nvSpPr>
        <p:spPr>
          <a:xfrm>
            <a:off x="4800600" y="3605808"/>
            <a:ext cx="3829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PC2 (10.90% variance)</a:t>
            </a:r>
            <a:endParaRPr lang="en-US" sz="784" dirty="0"/>
          </a:p>
        </p:txBody>
      </p:sp>
      <p:sp>
        <p:nvSpPr>
          <p:cNvPr id="54" name="Text 49"/>
          <p:cNvSpPr/>
          <p:nvPr/>
        </p:nvSpPr>
        <p:spPr>
          <a:xfrm>
            <a:off x="4800600" y="3782616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Road characteristics and location (speed limit, urban/rural)</a:t>
            </a:r>
            <a:endParaRPr lang="en-US" sz="727" dirty="0"/>
          </a:p>
        </p:txBody>
      </p:sp>
      <p:sp>
        <p:nvSpPr>
          <p:cNvPr id="55" name="Shape 50"/>
          <p:cNvSpPr/>
          <p:nvPr/>
        </p:nvSpPr>
        <p:spPr>
          <a:xfrm>
            <a:off x="4714875" y="4018359"/>
            <a:ext cx="4000500" cy="4125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6" name="Text 51"/>
          <p:cNvSpPr/>
          <p:nvPr/>
        </p:nvSpPr>
        <p:spPr>
          <a:xfrm>
            <a:off x="4800600" y="4061222"/>
            <a:ext cx="3829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PC3 (8.52% variance)</a:t>
            </a:r>
            <a:endParaRPr lang="en-US" sz="784" dirty="0"/>
          </a:p>
        </p:txBody>
      </p:sp>
      <p:sp>
        <p:nvSpPr>
          <p:cNvPr id="57" name="Text 52"/>
          <p:cNvSpPr/>
          <p:nvPr/>
        </p:nvSpPr>
        <p:spPr>
          <a:xfrm>
            <a:off x="4800600" y="4238030"/>
            <a:ext cx="3829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Road type and traffic control (road type, junction control)</a:t>
            </a:r>
            <a:endParaRPr lang="en-US" sz="727" dirty="0"/>
          </a:p>
        </p:txBody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4502348"/>
            <a:ext cx="4000500" cy="7858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042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1A237E"/>
                </a:solidFill>
              </a:rPr>
              <a:t>Conclusions and Implications</a:t>
            </a:r>
            <a:endParaRPr lang="en-US" sz="191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71550"/>
            <a:ext cx="117872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647" y="941189"/>
            <a:ext cx="17457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Key Research Findings</a:t>
            </a:r>
            <a:endParaRPr lang="en-US" sz="1090" dirty="0"/>
          </a:p>
        </p:txBody>
      </p:sp>
      <p:sp>
        <p:nvSpPr>
          <p:cNvPr id="6" name="Shape 2"/>
          <p:cNvSpPr/>
          <p:nvPr/>
        </p:nvSpPr>
        <p:spPr>
          <a:xfrm>
            <a:off x="428625" y="1262658"/>
            <a:ext cx="2177532" cy="74434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262658"/>
            <a:ext cx="28575" cy="74434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4"/>
          <p:cNvSpPr/>
          <p:nvPr/>
        </p:nvSpPr>
        <p:spPr>
          <a:xfrm>
            <a:off x="535781" y="1319808"/>
            <a:ext cx="1963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1. Rural Areas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535781" y="1503759"/>
            <a:ext cx="19632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+4.7%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35781" y="1727002"/>
            <a:ext cx="196322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Higher correlation with severity due to high speeds and less infrastructure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2677595" y="1262658"/>
            <a:ext cx="2177532" cy="74434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2677595" y="1262658"/>
            <a:ext cx="28575" cy="74434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9"/>
          <p:cNvSpPr/>
          <p:nvPr/>
        </p:nvSpPr>
        <p:spPr>
          <a:xfrm>
            <a:off x="2784751" y="1319808"/>
            <a:ext cx="1963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2. High Speed Limits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2784751" y="1503759"/>
            <a:ext cx="19632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+4.1%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2784751" y="1727002"/>
            <a:ext cx="1963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Direct relationship: speed ↑ = severity ↑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428625" y="2078441"/>
            <a:ext cx="2177532" cy="74434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28625" y="2078441"/>
            <a:ext cx="28575" cy="74434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4"/>
          <p:cNvSpPr/>
          <p:nvPr/>
        </p:nvSpPr>
        <p:spPr>
          <a:xfrm>
            <a:off x="535781" y="2135591"/>
            <a:ext cx="1963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3. Poor Lighting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535781" y="2319542"/>
            <a:ext cx="19632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+2.6%</a:t>
            </a:r>
            <a:endParaRPr lang="en-US" sz="987" dirty="0"/>
          </a:p>
        </p:txBody>
      </p:sp>
      <p:sp>
        <p:nvSpPr>
          <p:cNvPr id="20" name="Text 16"/>
          <p:cNvSpPr/>
          <p:nvPr/>
        </p:nvSpPr>
        <p:spPr>
          <a:xfrm>
            <a:off x="535781" y="2542784"/>
            <a:ext cx="196322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Darkness impairs visibility and reaction time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2677595" y="2078441"/>
            <a:ext cx="2177532" cy="74434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18"/>
          <p:cNvSpPr/>
          <p:nvPr/>
        </p:nvSpPr>
        <p:spPr>
          <a:xfrm>
            <a:off x="2677595" y="2078441"/>
            <a:ext cx="28575" cy="744345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3" name="Text 19"/>
          <p:cNvSpPr/>
          <p:nvPr/>
        </p:nvSpPr>
        <p:spPr>
          <a:xfrm>
            <a:off x="2784751" y="2135591"/>
            <a:ext cx="1963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4. Junction Type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2784751" y="2319542"/>
            <a:ext cx="19632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32F2F"/>
                </a:solidFill>
              </a:rPr>
              <a:t>+3.3%</a:t>
            </a:r>
            <a:endParaRPr lang="en-US" sz="987" dirty="0"/>
          </a:p>
        </p:txBody>
      </p:sp>
      <p:sp>
        <p:nvSpPr>
          <p:cNvPr id="25" name="Text 21"/>
          <p:cNvSpPr/>
          <p:nvPr/>
        </p:nvSpPr>
        <p:spPr>
          <a:xfrm>
            <a:off x="2784751" y="2542784"/>
            <a:ext cx="19632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Certain designs increase collision risk</a:t>
            </a:r>
            <a:endParaRPr lang="en-US" sz="727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924584"/>
            <a:ext cx="157163" cy="15716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2938" y="2894223"/>
            <a:ext cx="14842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Policy Implications</a:t>
            </a:r>
            <a:endParaRPr lang="en-US" sz="1090" dirty="0"/>
          </a:p>
        </p:txBody>
      </p:sp>
      <p:sp>
        <p:nvSpPr>
          <p:cNvPr id="28" name="Shape 23"/>
          <p:cNvSpPr/>
          <p:nvPr/>
        </p:nvSpPr>
        <p:spPr>
          <a:xfrm>
            <a:off x="428625" y="3215692"/>
            <a:ext cx="200025" cy="200025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80" y="3265698"/>
            <a:ext cx="112514" cy="10001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0088" y="3215692"/>
            <a:ext cx="3528789" cy="17502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Prioritize speed enforcement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in rural areas with targeted campaigns</a:t>
            </a:r>
            <a:endParaRPr lang="en-US" sz="734" dirty="0"/>
          </a:p>
        </p:txBody>
      </p:sp>
      <p:sp>
        <p:nvSpPr>
          <p:cNvPr id="31" name="Shape 25"/>
          <p:cNvSpPr/>
          <p:nvPr/>
        </p:nvSpPr>
        <p:spPr>
          <a:xfrm>
            <a:off x="428625" y="3458580"/>
            <a:ext cx="200025" cy="200025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33" y="3508586"/>
            <a:ext cx="75009" cy="10001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0088" y="3458580"/>
            <a:ext cx="3231877" cy="17502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Invest in road lighting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infrastructure, especially on rural routes</a:t>
            </a:r>
            <a:endParaRPr lang="en-US" sz="734" dirty="0"/>
          </a:p>
        </p:txBody>
      </p:sp>
      <p:sp>
        <p:nvSpPr>
          <p:cNvPr id="34" name="Shape 27"/>
          <p:cNvSpPr/>
          <p:nvPr/>
        </p:nvSpPr>
        <p:spPr>
          <a:xfrm>
            <a:off x="428625" y="3701467"/>
            <a:ext cx="200025" cy="200025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380" y="3751473"/>
            <a:ext cx="112514" cy="10001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00088" y="3701467"/>
            <a:ext cx="3318104" cy="17502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Redesign high-risk junctions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with improved control mechanisms</a:t>
            </a:r>
            <a:endParaRPr lang="en-US" sz="734" dirty="0"/>
          </a:p>
        </p:txBody>
      </p:sp>
      <p:sp>
        <p:nvSpPr>
          <p:cNvPr id="37" name="Shape 29"/>
          <p:cNvSpPr/>
          <p:nvPr/>
        </p:nvSpPr>
        <p:spPr>
          <a:xfrm>
            <a:off x="428625" y="3944355"/>
            <a:ext cx="200025" cy="200025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" y="3994361"/>
            <a:ext cx="100013" cy="10001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0088" y="3944355"/>
            <a:ext cx="3002021" cy="17502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Target safety campaigns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to rural drivers about speed risks</a:t>
            </a:r>
            <a:endParaRPr lang="en-US" sz="734" dirty="0"/>
          </a:p>
        </p:txBody>
      </p:sp>
      <p:sp>
        <p:nvSpPr>
          <p:cNvPr id="40" name="Shape 31"/>
          <p:cNvSpPr/>
          <p:nvPr/>
        </p:nvSpPr>
        <p:spPr>
          <a:xfrm>
            <a:off x="428625" y="4230105"/>
            <a:ext cx="4426502" cy="5296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1" name="Shape 32"/>
          <p:cNvSpPr/>
          <p:nvPr/>
        </p:nvSpPr>
        <p:spPr>
          <a:xfrm>
            <a:off x="428625" y="4230105"/>
            <a:ext cx="4426502" cy="142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2" name="Text 33"/>
          <p:cNvSpPr/>
          <p:nvPr/>
        </p:nvSpPr>
        <p:spPr>
          <a:xfrm>
            <a:off x="571500" y="4287255"/>
            <a:ext cx="41407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References</a:t>
            </a:r>
            <a:endParaRPr lang="en-US" sz="784" dirty="0"/>
          </a:p>
        </p:txBody>
      </p:sp>
      <p:sp>
        <p:nvSpPr>
          <p:cNvPr id="43" name="Text 34"/>
          <p:cNvSpPr/>
          <p:nvPr/>
        </p:nvSpPr>
        <p:spPr>
          <a:xfrm>
            <a:off x="571500" y="4485494"/>
            <a:ext cx="4140752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24242"/>
                </a:solidFill>
              </a:rPr>
              <a:t>[1] Department for Transport. (2025). Road safety open data. GOV.UK. https://www.gov.uk/government/statistical-data-sets/road-safety-open-data</a:t>
            </a:r>
            <a:endParaRPr lang="en-US" sz="674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577" y="971550"/>
            <a:ext cx="157163" cy="157163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240889" y="941189"/>
            <a:ext cx="23494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Methodological Contributions</a:t>
            </a:r>
            <a:endParaRPr lang="en-US" sz="1090" dirty="0"/>
          </a:p>
        </p:txBody>
      </p:sp>
      <p:sp>
        <p:nvSpPr>
          <p:cNvPr id="46" name="Shape 36"/>
          <p:cNvSpPr/>
          <p:nvPr/>
        </p:nvSpPr>
        <p:spPr>
          <a:xfrm>
            <a:off x="5026577" y="1262658"/>
            <a:ext cx="3688798" cy="1107281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7" name="Shape 37"/>
          <p:cNvSpPr/>
          <p:nvPr/>
        </p:nvSpPr>
        <p:spPr>
          <a:xfrm>
            <a:off x="5026577" y="1262658"/>
            <a:ext cx="28575" cy="110728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8" name="Text 38"/>
          <p:cNvSpPr/>
          <p:nvPr/>
        </p:nvSpPr>
        <p:spPr>
          <a:xfrm>
            <a:off x="5155164" y="1348383"/>
            <a:ext cx="343162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PCA Effectiveness: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Achieved 91.76% variance retention with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23.53% dimensionality reduction (17 → 13 components)</a:t>
            </a:r>
            <a:endParaRPr lang="en-US" sz="734" dirty="0"/>
          </a:p>
        </p:txBody>
      </p:sp>
      <p:sp>
        <p:nvSpPr>
          <p:cNvPr id="49" name="Text 39"/>
          <p:cNvSpPr/>
          <p:nvPr/>
        </p:nvSpPr>
        <p:spPr>
          <a:xfrm>
            <a:off x="5155164" y="1698427"/>
            <a:ext cx="343162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Statistical Validation: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All risk factors statistically significant (p &lt;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0.05)</a:t>
            </a:r>
            <a:endParaRPr lang="en-US" sz="734" dirty="0"/>
          </a:p>
        </p:txBody>
      </p:sp>
      <p:sp>
        <p:nvSpPr>
          <p:cNvPr id="50" name="Text 40"/>
          <p:cNvSpPr/>
          <p:nvPr/>
        </p:nvSpPr>
        <p:spPr>
          <a:xfrm>
            <a:off x="5155164" y="2048470"/>
            <a:ext cx="343162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24242"/>
                </a:solidFill>
              </a:rPr>
              <a:t>Reproducible Pipeline: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 Complete analysis workflow from data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24242"/>
                </a:solidFill>
              </a:rPr>
              <a:t>cleaning to PCA</a:t>
            </a:r>
            <a:endParaRPr lang="en-US" sz="734" dirty="0"/>
          </a:p>
        </p:txBody>
      </p:sp>
      <p:sp>
        <p:nvSpPr>
          <p:cNvPr id="51" name="Text 41"/>
          <p:cNvSpPr/>
          <p:nvPr/>
        </p:nvSpPr>
        <p:spPr>
          <a:xfrm>
            <a:off x="5026577" y="2427089"/>
            <a:ext cx="36887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Limitations</a:t>
            </a:r>
            <a:endParaRPr lang="en-US" sz="885" dirty="0"/>
          </a:p>
        </p:txBody>
      </p:sp>
      <p:sp>
        <p:nvSpPr>
          <p:cNvPr id="52" name="Text 42"/>
          <p:cNvSpPr/>
          <p:nvPr/>
        </p:nvSpPr>
        <p:spPr>
          <a:xfrm>
            <a:off x="5026577" y="2659261"/>
            <a:ext cx="3688798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Dataset limited to 2024 (temporal generalization unknown)</a:t>
            </a:r>
            <a:endParaRPr lang="en-US" sz="727" dirty="0"/>
          </a:p>
        </p:txBody>
      </p:sp>
      <p:sp>
        <p:nvSpPr>
          <p:cNvPr id="53" name="Text 43"/>
          <p:cNvSpPr/>
          <p:nvPr/>
        </p:nvSpPr>
        <p:spPr>
          <a:xfrm>
            <a:off x="5026577" y="2837855"/>
            <a:ext cx="3688798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Some features excluded due to missing data</a:t>
            </a:r>
            <a:endParaRPr lang="en-US" sz="727" dirty="0"/>
          </a:p>
        </p:txBody>
      </p:sp>
      <p:sp>
        <p:nvSpPr>
          <p:cNvPr id="54" name="Text 44"/>
          <p:cNvSpPr/>
          <p:nvPr/>
        </p:nvSpPr>
        <p:spPr>
          <a:xfrm>
            <a:off x="5026577" y="3016448"/>
            <a:ext cx="3688798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Binary severity classification may oversimplify Fatal vs. Serious distinction</a:t>
            </a:r>
            <a:endParaRPr lang="en-US" sz="727" dirty="0"/>
          </a:p>
        </p:txBody>
      </p:sp>
      <p:sp>
        <p:nvSpPr>
          <p:cNvPr id="55" name="Text 45"/>
          <p:cNvSpPr/>
          <p:nvPr/>
        </p:nvSpPr>
        <p:spPr>
          <a:xfrm>
            <a:off x="5026577" y="3223617"/>
            <a:ext cx="36887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76D2"/>
                </a:solidFill>
              </a:rPr>
              <a:t>Future Research Directions</a:t>
            </a:r>
            <a:endParaRPr lang="en-US" sz="885" dirty="0"/>
          </a:p>
        </p:txBody>
      </p:sp>
      <p:sp>
        <p:nvSpPr>
          <p:cNvPr id="56" name="Text 46"/>
          <p:cNvSpPr/>
          <p:nvPr/>
        </p:nvSpPr>
        <p:spPr>
          <a:xfrm>
            <a:off x="5026577" y="2659261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▸</a:t>
            </a:r>
            <a:endParaRPr lang="en-US" sz="683" dirty="0"/>
          </a:p>
        </p:txBody>
      </p:sp>
      <p:sp>
        <p:nvSpPr>
          <p:cNvPr id="57" name="Text 47"/>
          <p:cNvSpPr/>
          <p:nvPr/>
        </p:nvSpPr>
        <p:spPr>
          <a:xfrm>
            <a:off x="5026577" y="2837855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▸</a:t>
            </a:r>
            <a:endParaRPr lang="en-US" sz="683" dirty="0"/>
          </a:p>
        </p:txBody>
      </p:sp>
      <p:sp>
        <p:nvSpPr>
          <p:cNvPr id="58" name="Text 48"/>
          <p:cNvSpPr/>
          <p:nvPr/>
        </p:nvSpPr>
        <p:spPr>
          <a:xfrm>
            <a:off x="5026577" y="3016448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▸</a:t>
            </a:r>
            <a:endParaRPr lang="en-US" sz="683" dirty="0"/>
          </a:p>
        </p:txBody>
      </p:sp>
      <p:sp>
        <p:nvSpPr>
          <p:cNvPr id="59" name="Text 49"/>
          <p:cNvSpPr/>
          <p:nvPr/>
        </p:nvSpPr>
        <p:spPr>
          <a:xfrm>
            <a:off x="5026577" y="3455789"/>
            <a:ext cx="3688798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Temporal analysis across multiple years</a:t>
            </a:r>
            <a:endParaRPr lang="en-US" sz="727" dirty="0"/>
          </a:p>
        </p:txBody>
      </p:sp>
      <p:sp>
        <p:nvSpPr>
          <p:cNvPr id="60" name="Text 50"/>
          <p:cNvSpPr/>
          <p:nvPr/>
        </p:nvSpPr>
        <p:spPr>
          <a:xfrm>
            <a:off x="5026577" y="3634383"/>
            <a:ext cx="3688798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Machine learning models for severity prediction</a:t>
            </a:r>
            <a:endParaRPr lang="en-US" sz="727" dirty="0"/>
          </a:p>
        </p:txBody>
      </p:sp>
      <p:sp>
        <p:nvSpPr>
          <p:cNvPr id="61" name="Text 51"/>
          <p:cNvSpPr/>
          <p:nvPr/>
        </p:nvSpPr>
        <p:spPr>
          <a:xfrm>
            <a:off x="5026577" y="3812977"/>
            <a:ext cx="3688798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Geographic clustering analysis</a:t>
            </a:r>
            <a:endParaRPr lang="en-US" sz="727" dirty="0"/>
          </a:p>
        </p:txBody>
      </p:sp>
      <p:sp>
        <p:nvSpPr>
          <p:cNvPr id="62" name="Text 52"/>
          <p:cNvSpPr/>
          <p:nvPr/>
        </p:nvSpPr>
        <p:spPr>
          <a:xfrm>
            <a:off x="5026577" y="3991570"/>
            <a:ext cx="3688798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24242"/>
                </a:solidFill>
              </a:rPr>
              <a:t>Integration with vehicle telematics data</a:t>
            </a:r>
            <a:endParaRPr lang="en-US" sz="727" dirty="0"/>
          </a:p>
        </p:txBody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6577" y="4198739"/>
            <a:ext cx="3688798" cy="1071563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5026577" y="3455789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976D2"/>
                </a:solidFill>
              </a:rPr>
              <a:t>▸</a:t>
            </a:r>
            <a:endParaRPr lang="en-US" sz="683" dirty="0"/>
          </a:p>
        </p:txBody>
      </p:sp>
      <p:sp>
        <p:nvSpPr>
          <p:cNvPr id="65" name="Text 54"/>
          <p:cNvSpPr/>
          <p:nvPr/>
        </p:nvSpPr>
        <p:spPr>
          <a:xfrm>
            <a:off x="5026577" y="3634383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976D2"/>
                </a:solidFill>
              </a:rPr>
              <a:t>▸</a:t>
            </a:r>
            <a:endParaRPr lang="en-US" sz="683" dirty="0"/>
          </a:p>
        </p:txBody>
      </p:sp>
      <p:sp>
        <p:nvSpPr>
          <p:cNvPr id="66" name="Text 55"/>
          <p:cNvSpPr/>
          <p:nvPr/>
        </p:nvSpPr>
        <p:spPr>
          <a:xfrm>
            <a:off x="5026577" y="3812977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976D2"/>
                </a:solidFill>
              </a:rPr>
              <a:t>▸</a:t>
            </a:r>
            <a:endParaRPr lang="en-US" sz="683" dirty="0"/>
          </a:p>
        </p:txBody>
      </p:sp>
      <p:sp>
        <p:nvSpPr>
          <p:cNvPr id="67" name="Text 56"/>
          <p:cNvSpPr/>
          <p:nvPr/>
        </p:nvSpPr>
        <p:spPr>
          <a:xfrm>
            <a:off x="5026577" y="3991570"/>
            <a:ext cx="500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976D2"/>
                </a:solidFill>
              </a:rPr>
              <a:t>▸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2025-12-03T20:00:47Z</dcterms:created>
  <dcterms:modified xsi:type="dcterms:W3CDTF">2025-12-03T20:00:47Z</dcterms:modified>
</cp:coreProperties>
</file>