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o1DTkx8kP9SkqSafzHcEC1Ry5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9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9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9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19.png"/><Relationship Id="rId11" Type="http://schemas.openxmlformats.org/officeDocument/2006/relationships/image" Target="../media/image30.png"/><Relationship Id="rId10" Type="http://schemas.openxmlformats.org/officeDocument/2006/relationships/image" Target="../media/image33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380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71500" y="428625"/>
            <a:ext cx="508635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Identifying Risk Factors in Severe Traffic Accidents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71500" y="1394427"/>
            <a:ext cx="50863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A Data-Driven Analysis of UK Road Safety (2024)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71500" y="1858770"/>
            <a:ext cx="5086350" cy="10004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71500" y="1858770"/>
            <a:ext cx="35719" cy="100043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50094" y="1958783"/>
            <a:ext cx="472916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Tiago De Oliveira Freitas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50094" y="2210600"/>
            <a:ext cx="4729163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Student Number:</a:t>
            </a: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2021406</a:t>
            </a:r>
            <a:b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Institution:</a:t>
            </a: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CCT College Dublin</a:t>
            </a:r>
            <a:b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Module:</a:t>
            </a: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Data Exploration &amp; Preparation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71500" y="3016365"/>
            <a:ext cx="5086350" cy="910103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3" y="3162812"/>
            <a:ext cx="110728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896541" y="3144952"/>
            <a:ext cx="127733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85813" y="3352121"/>
            <a:ext cx="4657725" cy="44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8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factors are most correlated with severe accidents in Great Britain?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71500" y="4055055"/>
            <a:ext cx="5086350" cy="7543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71500" y="4055055"/>
            <a:ext cx="21431" cy="754363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4178284"/>
            <a:ext cx="91083" cy="12144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805458" y="4153281"/>
            <a:ext cx="732792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1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Motivation: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538250" y="4153281"/>
            <a:ext cx="3457156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918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88"/>
              <a:buFont typeface="Calibri"/>
              <a:buNone/>
            </a:pPr>
            <a:r>
              <a:rPr b="0" i="0" lang="en-US" sz="888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Traffic accidents cause over 3,000 deaths annually in the UK.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14375" y="4347586"/>
            <a:ext cx="4628480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918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88"/>
              <a:buFont typeface="Calibri"/>
              <a:buNone/>
            </a:pPr>
            <a:r>
              <a:rPr b="0" i="0" lang="en-US" sz="888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Understanding severity factors can inform targeted safety interventions and save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14375" y="4541890"/>
            <a:ext cx="283573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918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88"/>
              <a:buFont typeface="Calibri"/>
              <a:buNone/>
            </a:pPr>
            <a:r>
              <a:rPr b="0" i="0" lang="en-US" sz="888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lives.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66593"/>
            <a:ext cx="166092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809018" y="5074625"/>
            <a:ext cx="4796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GitHub Repository: </a:t>
            </a:r>
            <a:r>
              <a:rPr b="1" lang="en-US" sz="784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https://github.com/TiagoStudent/CA1_DEP_TiagoDeOliveiraFreitas_2021406.git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943600" y="0"/>
            <a:ext cx="3200400" cy="5238043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40128" y="1976084"/>
            <a:ext cx="1607344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"/>
          <p:cNvSpPr/>
          <p:nvPr/>
        </p:nvSpPr>
        <p:spPr>
          <a:xfrm>
            <a:off x="7115175" y="1435838"/>
            <a:ext cx="857250" cy="857250"/>
          </a:xfrm>
          <a:prstGeom prst="ellipse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29488" y="16501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"/>
          <p:cNvSpPr/>
          <p:nvPr/>
        </p:nvSpPr>
        <p:spPr>
          <a:xfrm>
            <a:off x="6966077" y="2435963"/>
            <a:ext cx="1155446" cy="366117"/>
          </a:xfrm>
          <a:prstGeom prst="roundRect">
            <a:avLst>
              <a:gd fmla="val 16667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966077" y="2435963"/>
            <a:ext cx="1155446" cy="366117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255125" spcFirstLastPara="1" rIns="255125" wrap="square" tIns="10210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2024 DATA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115175" y="2944955"/>
            <a:ext cx="857250" cy="857250"/>
          </a:xfrm>
          <a:prstGeom prst="ellipse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56277" y="3159268"/>
            <a:ext cx="375047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5445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912"/>
              <a:buFont typeface="Calibri"/>
              <a:buNone/>
            </a:pPr>
            <a:r>
              <a:rPr b="1" i="0" lang="en-US" sz="1912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Dataset and Methodology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73336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635794" y="941189"/>
            <a:ext cx="103009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28625" y="1360884"/>
            <a:ext cx="4000500" cy="106720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71500" y="1525191"/>
            <a:ext cx="1000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571625" y="1525191"/>
            <a:ext cx="157335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UK Department for Transport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71500" y="1765204"/>
            <a:ext cx="1000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Dataset: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571625" y="1765204"/>
            <a:ext cx="1601456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Road Safety Open Data (2024)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71500" y="2005217"/>
            <a:ext cx="1000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System: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571625" y="2005217"/>
            <a:ext cx="144407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STATS19 collision reporting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71500" y="2245230"/>
            <a:ext cx="1000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License: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571625" y="2245230"/>
            <a:ext cx="1426462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Open Government Licence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28625" y="2570969"/>
            <a:ext cx="40005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Dataset Characteristics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28625" y="2831716"/>
            <a:ext cx="4000500" cy="106720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71500" y="2996022"/>
            <a:ext cx="1000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Original records: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571625" y="2996022"/>
            <a:ext cx="943896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100,927 collisions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71500" y="3236035"/>
            <a:ext cx="1000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Cleaned records: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571625" y="3236035"/>
            <a:ext cx="878514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26,516 collisions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71500" y="3476048"/>
            <a:ext cx="1000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Features: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571625" y="3476048"/>
            <a:ext cx="155837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19 selected from 44 available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71500" y="3716062"/>
            <a:ext cx="1000125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Coverage: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571625" y="3716062"/>
            <a:ext cx="1468543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Great Britain, full year 2024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4006081"/>
            <a:ext cx="4000500" cy="1214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973336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/>
          <p:nvPr/>
        </p:nvSpPr>
        <p:spPr>
          <a:xfrm>
            <a:off x="4986338" y="941189"/>
            <a:ext cx="1987637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Methodology Overview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714875" y="1360884"/>
            <a:ext cx="228600" cy="2286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714875" y="13608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029200" y="1360884"/>
            <a:ext cx="3492791" cy="21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Data cleaning and preparation (handling missing values, outliers)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714875" y="1675209"/>
            <a:ext cx="228600" cy="2286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714875" y="1675209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029200" y="1675209"/>
            <a:ext cx="2762650" cy="21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 with statistical tests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714875" y="1989534"/>
            <a:ext cx="228600" cy="2286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714875" y="198953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5029200" y="1989534"/>
            <a:ext cx="2046098" cy="21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Feature encoding (Label and One-Hot)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4714875" y="2303859"/>
            <a:ext cx="228600" cy="2286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4714875" y="2303859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5029200" y="2303859"/>
            <a:ext cx="3455175" cy="21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Principal Component Analysis (PCA) for dimensionality reduction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4714875" y="2675334"/>
            <a:ext cx="40005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Severity Classification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4714875" y="2957513"/>
            <a:ext cx="1946672" cy="7340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4714875" y="2957513"/>
            <a:ext cx="1946672" cy="2857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4843463" y="3064669"/>
            <a:ext cx="168949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Fatal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843463" y="3277195"/>
            <a:ext cx="1689497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176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843463" y="3527227"/>
            <a:ext cx="16894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0.66%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6768703" y="2957513"/>
            <a:ext cx="1946672" cy="7340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768703" y="2957513"/>
            <a:ext cx="1946672" cy="2857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6897291" y="3064669"/>
            <a:ext cx="168949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Serious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897291" y="3277195"/>
            <a:ext cx="1689497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4,825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897291" y="3527227"/>
            <a:ext cx="16894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18.20%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714875" y="3770114"/>
            <a:ext cx="1946672" cy="7340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714875" y="3770114"/>
            <a:ext cx="1946672" cy="2857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843463" y="3877270"/>
            <a:ext cx="168949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Slight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4843463" y="4089797"/>
            <a:ext cx="1689497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21,515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4843463" y="4339828"/>
            <a:ext cx="16894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81.14%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768703" y="3770114"/>
            <a:ext cx="1946672" cy="7340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6768703" y="3770114"/>
            <a:ext cx="1946672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897291" y="3877270"/>
            <a:ext cx="168949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Total Severe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897291" y="4089797"/>
            <a:ext cx="1689497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5,001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6897291" y="4339828"/>
            <a:ext cx="16894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18.86%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714875" y="4582716"/>
            <a:ext cx="4000500" cy="428625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4714875" y="4582716"/>
            <a:ext cx="28575" cy="42862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2031" y="469701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/>
          <p:nvPr/>
        </p:nvSpPr>
        <p:spPr>
          <a:xfrm>
            <a:off x="4936331" y="4675584"/>
            <a:ext cx="349083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Binary target variable created: is_severe (0=Slight, 1=Severe)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822031" y="4675584"/>
            <a:ext cx="3772040" cy="326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t/>
            </a:r>
            <a:endParaRPr b="1" sz="784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lang="en-US" sz="784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for clearer risk factor analysis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07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912"/>
              <a:buFont typeface="Calibri"/>
              <a:buNone/>
            </a:pPr>
            <a:r>
              <a:rPr b="1" i="0" lang="en-US" sz="1912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Data Preparation Challenges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28625" y="905470"/>
            <a:ext cx="5381616" cy="140374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28625" y="905470"/>
            <a:ext cx="35719" cy="1403747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07219" y="991195"/>
            <a:ext cx="257175" cy="25717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13" y="105548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950119" y="1022449"/>
            <a:ext cx="267349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Challenge 1: Missing and Invalid Data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07219" y="1294805"/>
            <a:ext cx="474693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Dataset uses code -1 for unknown/invalid values found in 9 columns with varying percentages.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219" y="1514475"/>
            <a:ext cx="107156" cy="10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714375" y="1493044"/>
            <a:ext cx="50279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487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07219" y="1648420"/>
            <a:ext cx="374020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Removed rows with -1 in critical columns (junction_detail, junction_control,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07219" y="1803797"/>
            <a:ext cx="134975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special_conditions_at_site).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219" y="2023467"/>
            <a:ext cx="107156" cy="10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714375" y="2002036"/>
            <a:ext cx="3953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487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07219" y="2157413"/>
            <a:ext cx="347016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Reduced from 100,927 to 26,516 rows while maintaining data quality.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28625" y="2380655"/>
            <a:ext cx="5381616" cy="124837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428625" y="2380655"/>
            <a:ext cx="35719" cy="124837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07219" y="2466380"/>
            <a:ext cx="257175" cy="25717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439" y="2530673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950119" y="2497634"/>
            <a:ext cx="3267987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Challenge 2: Imbalanced Severity Distribution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607219" y="2769989"/>
            <a:ext cx="265267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Only 18.86% of accidents are severe (Fatal + Serious).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219" y="2989659"/>
            <a:ext cx="107156" cy="10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714375" y="2968228"/>
            <a:ext cx="50279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487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07219" y="3123605"/>
            <a:ext cx="305760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Created binary target variable: is_severe (0=Slight, 1=Severe).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7219" y="3343275"/>
            <a:ext cx="107156" cy="10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/>
          <p:nvPr/>
        </p:nvSpPr>
        <p:spPr>
          <a:xfrm>
            <a:off x="714375" y="3321844"/>
            <a:ext cx="3953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487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07219" y="3477220"/>
            <a:ext cx="193439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Enables clearer analysis of risk factors.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024553" y="834033"/>
            <a:ext cx="2690794" cy="17502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1976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6167428" y="948333"/>
            <a:ext cx="24050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Data Quality Metrics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167428" y="1343918"/>
            <a:ext cx="77261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8488728" y="1319808"/>
            <a:ext cx="8374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167428" y="1667173"/>
            <a:ext cx="94202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Duplicate Records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8488728" y="1643063"/>
            <a:ext cx="8374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167428" y="1990427"/>
            <a:ext cx="92349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Features Selected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405013" y="1966317"/>
            <a:ext cx="16746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167428" y="2313682"/>
            <a:ext cx="69428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Final Records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8109691" y="2289572"/>
            <a:ext cx="46278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26,516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24553" y="2627114"/>
            <a:ext cx="2690794" cy="121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"/>
          <p:cNvSpPr/>
          <p:nvPr/>
        </p:nvSpPr>
        <p:spPr>
          <a:xfrm>
            <a:off x="6024553" y="3946922"/>
            <a:ext cx="2690794" cy="11572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6024553" y="3946922"/>
            <a:ext cx="35719" cy="1157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03147" y="4059436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"/>
          <p:cNvSpPr/>
          <p:nvPr/>
        </p:nvSpPr>
        <p:spPr>
          <a:xfrm>
            <a:off x="6346022" y="4032647"/>
            <a:ext cx="148919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6203147" y="4270177"/>
            <a:ext cx="2333606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Created is_weekend indicator (Saturday/Sunday)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6203147" y="4609505"/>
            <a:ext cx="2333606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Categorized speed limits into Low/Medium/High/Very High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6203147" y="4948833"/>
            <a:ext cx="233360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Standardized all numerical features for PCA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8" name="Google Shape;1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51676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912"/>
              <a:buFont typeface="Calibri"/>
              <a:buNone/>
            </a:pPr>
            <a:r>
              <a:rPr b="1" i="0" lang="en-US" sz="1912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Exploratory Data Analysis - Key Findings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3761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/>
          <p:nvPr/>
        </p:nvSpPr>
        <p:spPr>
          <a:xfrm>
            <a:off x="657225" y="905470"/>
            <a:ext cx="172189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Correlation Analysis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428625" y="1303734"/>
            <a:ext cx="401835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Positive Correlations (Increase Severity)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28625" y="1569839"/>
            <a:ext cx="4018359" cy="23753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535781" y="1632347"/>
            <a:ext cx="97623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Urban/Rural Area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879893" y="1612702"/>
            <a:ext cx="45993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+0.047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28625" y="1850231"/>
            <a:ext cx="4018359" cy="23753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35781" y="1912739"/>
            <a:ext cx="65356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Speed Limit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3879893" y="1893094"/>
            <a:ext cx="45993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+0.041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28625" y="2130623"/>
            <a:ext cx="4018359" cy="23753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535781" y="2193131"/>
            <a:ext cx="120520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Number of Casualties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879893" y="2173486"/>
            <a:ext cx="45993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+0.037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28625" y="2411016"/>
            <a:ext cx="4018359" cy="23753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535781" y="2473523"/>
            <a:ext cx="82158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Junction Detail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3879893" y="2453878"/>
            <a:ext cx="45993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+0.033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428625" y="2691408"/>
            <a:ext cx="4018359" cy="23753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535781" y="2753916"/>
            <a:ext cx="91601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Light Conditions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3879893" y="2734270"/>
            <a:ext cx="45993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+0.026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428625" y="3028950"/>
            <a:ext cx="401835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Negative Correlations (Decrease Severity)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428625" y="3295055"/>
            <a:ext cx="4018359" cy="23753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535781" y="3357563"/>
            <a:ext cx="108928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Number of Vehicles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918179" y="3337917"/>
            <a:ext cx="42164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-0.079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428625" y="3575447"/>
            <a:ext cx="4018359" cy="23753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535781" y="3637955"/>
            <a:ext cx="136121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Road Surface Conditions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918179" y="3618309"/>
            <a:ext cx="42164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-0.055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428625" y="3855839"/>
            <a:ext cx="4018359" cy="23753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535781" y="3918347"/>
            <a:ext cx="110563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Weather Conditions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3918179" y="3898702"/>
            <a:ext cx="42164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-0.041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428625" y="4193381"/>
            <a:ext cx="401835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Statistical Significance (Chi-Square Tests)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428625" y="4459486"/>
            <a:ext cx="4018359" cy="105727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557213" y="4545211"/>
            <a:ext cx="37611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Weather Conditions: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χ² = 71.78, p &lt; 0.001 </a:t>
            </a:r>
            <a:r>
              <a:rPr b="1" i="0" lang="en-US" sz="734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557213" y="4745236"/>
            <a:ext cx="37611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Light Conditions: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χ² = 43.66, p &lt; 0.001 </a:t>
            </a:r>
            <a:r>
              <a:rPr b="1" i="0" lang="en-US" sz="734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557213" y="4945261"/>
            <a:ext cx="37611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Road Surface: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χ² = 91.59, p &lt; 0.001 </a:t>
            </a:r>
            <a:r>
              <a:rPr b="1" i="0" lang="en-US" sz="734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57213" y="5145286"/>
            <a:ext cx="37611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Urban/Rural: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χ² = 58.48, p &lt; 0.001 </a:t>
            </a:r>
            <a:r>
              <a:rPr b="1" i="0" lang="en-US" sz="734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557213" y="5345311"/>
            <a:ext cx="37611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Weekend: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χ² = 5.26, p = 0.022 </a:t>
            </a:r>
            <a:r>
              <a:rPr b="1" i="0" lang="en-US" sz="734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7016" y="976908"/>
            <a:ext cx="4018359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"/>
          <p:cNvSpPr/>
          <p:nvPr/>
        </p:nvSpPr>
        <p:spPr>
          <a:xfrm>
            <a:off x="4697016" y="3239691"/>
            <a:ext cx="4018359" cy="11465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4697016" y="3239691"/>
            <a:ext cx="35719" cy="11465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9891" y="3334345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"/>
          <p:cNvSpPr/>
          <p:nvPr/>
        </p:nvSpPr>
        <p:spPr>
          <a:xfrm>
            <a:off x="4936331" y="3311128"/>
            <a:ext cx="1824419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Unusual Pattern Discovered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4839891" y="3543300"/>
            <a:ext cx="373260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Accidents with </a:t>
            </a: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fewer vehicles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are MORE severe (negative correlation of -0.079). This counterintuitive finding suggests single-vehicle accidents are more deadly than multi-vehicle collisions.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4839891" y="4114800"/>
            <a:ext cx="3732609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683"/>
              <a:buFont typeface="Calibri"/>
              <a:buNone/>
            </a:pPr>
            <a:r>
              <a:rPr b="1" i="1" lang="en-US" sz="683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Hypothesis:</a:t>
            </a:r>
            <a:r>
              <a:rPr b="0" i="1" lang="en-US" sz="727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 Single-vehicle accidents at high speeds (e.g., rural roads) are more deadly than multi-vehicle urban collisions where speeds are typically lower.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4697016" y="4471988"/>
            <a:ext cx="4018359" cy="817959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4697016" y="4471988"/>
            <a:ext cx="35719" cy="817959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39891" y="456664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"/>
          <p:cNvSpPr/>
          <p:nvPr/>
        </p:nvSpPr>
        <p:spPr>
          <a:xfrm>
            <a:off x="4968478" y="4543425"/>
            <a:ext cx="93496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4839891" y="4775597"/>
            <a:ext cx="373260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All tested factors are </a:t>
            </a: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statistically significant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(p &lt; 0.05), confirming their relationship with accident severity. Rural areas and high speed limits are the strongest predictors of severe accidents.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2" name="Google Shape;2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2209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912"/>
              <a:buFont typeface="Calibri"/>
              <a:buNone/>
            </a:pPr>
            <a:r>
              <a:rPr b="1" i="0" lang="en-US" sz="1912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Encoding and PCA Implementation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86618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"/>
          <p:cNvSpPr/>
          <p:nvPr/>
        </p:nvSpPr>
        <p:spPr>
          <a:xfrm>
            <a:off x="700088" y="834033"/>
            <a:ext cx="158094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Encoding Schemes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28625" y="1203722"/>
            <a:ext cx="40005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1. Label Encoding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28625" y="1450181"/>
            <a:ext cx="4000500" cy="100012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542925" y="1564481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Features: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1400175" y="1564481"/>
            <a:ext cx="109832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17 features encoded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542925" y="1778794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Method: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1400175" y="1778794"/>
            <a:ext cx="15383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Numerical codes maintained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542925" y="1993106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1400175" y="1993106"/>
            <a:ext cx="1017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Tree-based models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542925" y="2207419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Advantage: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1400175" y="2207419"/>
            <a:ext cx="16532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Preserves ordinal relationships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28625" y="2507456"/>
            <a:ext cx="40005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2. One-Hot Encoding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28625" y="2753916"/>
            <a:ext cx="4000500" cy="100012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542925" y="2868216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1400175" y="2868216"/>
            <a:ext cx="12234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14 categorical features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542925" y="3082528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1400175" y="3082528"/>
            <a:ext cx="9742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88 binary features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542925" y="3296841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Expansion: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1400175" y="3296841"/>
            <a:ext cx="13637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17 → 88 features (+418%)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542925" y="35111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1400175" y="3511153"/>
            <a:ext cx="169326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Linear models, neural networks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28625" y="3825478"/>
            <a:ext cx="4000500" cy="57685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542925" y="3882628"/>
            <a:ext cx="377190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5.2×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542925" y="4209455"/>
            <a:ext cx="37719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Feature Expansion Ratio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875" y="866180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"/>
          <p:cNvSpPr/>
          <p:nvPr/>
        </p:nvSpPr>
        <p:spPr>
          <a:xfrm>
            <a:off x="4964906" y="834033"/>
            <a:ext cx="1004032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PCA Results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714875" y="1203722"/>
            <a:ext cx="40005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Dimensionality Reduction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4714875" y="1450181"/>
            <a:ext cx="1276331" cy="49649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4800600" y="1507331"/>
            <a:ext cx="110488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4800600" y="1762720"/>
            <a:ext cx="110488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Original Features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6076931" y="1450181"/>
            <a:ext cx="1276359" cy="49649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6162656" y="1507331"/>
            <a:ext cx="110490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6162656" y="1762720"/>
            <a:ext cx="110490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PCA Components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7439016" y="1450181"/>
            <a:ext cx="1276359" cy="49649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7524741" y="1507331"/>
            <a:ext cx="110490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91.76%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7524741" y="1762720"/>
            <a:ext cx="110490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Variance Retained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4714875" y="2018109"/>
            <a:ext cx="4000500" cy="78581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4829175" y="2132409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Reduction: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5686425" y="2132409"/>
            <a:ext cx="17173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23.53% dimensionality decrease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4829175" y="2346722"/>
            <a:ext cx="97955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Information loss: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5808734" y="2346722"/>
            <a:ext cx="5991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Only 8.24%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4829175" y="2561034"/>
            <a:ext cx="942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Standardization: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5771815" y="2561034"/>
            <a:ext cx="17038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StandardScaler (mean=0, std=1)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4714875" y="2861072"/>
            <a:ext cx="40005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Principal Component Interpretation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714875" y="3107531"/>
            <a:ext cx="4000500" cy="41255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4800600" y="3150394"/>
            <a:ext cx="38290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PC1 (17.51% variance)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4800600" y="3327202"/>
            <a:ext cx="38290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Road and environmental hazards (carriageway, surface, weather)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4714875" y="3562945"/>
            <a:ext cx="4000500" cy="41255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4800600" y="3605808"/>
            <a:ext cx="38290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PC2 (10.90% variance)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4800600" y="3782616"/>
            <a:ext cx="38290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Road characteristics and location (speed limit, urban/rural)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4714875" y="4018359"/>
            <a:ext cx="4000500" cy="41255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4800600" y="4061222"/>
            <a:ext cx="38290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PC3 (8.52% variance)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4800600" y="4238030"/>
            <a:ext cx="38290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Road type and traffic control (road type, junction control)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4502348"/>
            <a:ext cx="4000500" cy="78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4" name="Google Shape;2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0423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6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912"/>
              <a:buFont typeface="Calibri"/>
              <a:buNone/>
            </a:pPr>
            <a:r>
              <a:rPr b="1" i="0" lang="en-US" sz="1912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Conclusions and Implications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6" name="Google Shape;2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71550"/>
            <a:ext cx="117872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6"/>
          <p:cNvSpPr/>
          <p:nvPr/>
        </p:nvSpPr>
        <p:spPr>
          <a:xfrm>
            <a:off x="603647" y="941189"/>
            <a:ext cx="174578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Research Findings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428625" y="1262658"/>
            <a:ext cx="2177532" cy="74434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428625" y="1262658"/>
            <a:ext cx="28575" cy="74434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535781" y="1319808"/>
            <a:ext cx="196322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1. Rural Areas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535781" y="1503759"/>
            <a:ext cx="19632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+4.7%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535781" y="1727002"/>
            <a:ext cx="1963220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Higher correlation with severity due to high speeds and less infrastructure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2677595" y="1262658"/>
            <a:ext cx="2177532" cy="74434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2677595" y="1262658"/>
            <a:ext cx="28575" cy="74434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2784751" y="1319808"/>
            <a:ext cx="196322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2. High Speed Limits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2784751" y="1503759"/>
            <a:ext cx="19632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+4.1%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2784751" y="1727002"/>
            <a:ext cx="196322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Direct relationship: speed ↑ = severity ↑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28625" y="2078441"/>
            <a:ext cx="2177532" cy="74434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428625" y="2078441"/>
            <a:ext cx="28575" cy="74434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535781" y="2135591"/>
            <a:ext cx="196322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3. Poor Lighting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535781" y="2319542"/>
            <a:ext cx="19632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+2.6%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535781" y="2542784"/>
            <a:ext cx="1963220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Darkness impairs visibility and reaction time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2677595" y="2078441"/>
            <a:ext cx="2177532" cy="74434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2677595" y="2078441"/>
            <a:ext cx="28575" cy="74434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2784751" y="2135591"/>
            <a:ext cx="196322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4. Junction Type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2784751" y="2319542"/>
            <a:ext cx="19632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+3.3%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2784751" y="2542784"/>
            <a:ext cx="196322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Certain designs increase collision risk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924584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"/>
          <p:cNvSpPr/>
          <p:nvPr/>
        </p:nvSpPr>
        <p:spPr>
          <a:xfrm>
            <a:off x="642938" y="2894223"/>
            <a:ext cx="14842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Policy Implications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428625" y="3215692"/>
            <a:ext cx="200025" cy="20002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380" y="3265698"/>
            <a:ext cx="112514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"/>
          <p:cNvSpPr/>
          <p:nvPr/>
        </p:nvSpPr>
        <p:spPr>
          <a:xfrm>
            <a:off x="700088" y="3215692"/>
            <a:ext cx="3528789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Prioritize speed enforcement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in rural areas with targeted campaigns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28625" y="3458580"/>
            <a:ext cx="200025" cy="20002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1133" y="3508586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"/>
          <p:cNvSpPr/>
          <p:nvPr/>
        </p:nvSpPr>
        <p:spPr>
          <a:xfrm>
            <a:off x="700088" y="3458580"/>
            <a:ext cx="323187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Invest in road lighting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infrastructure, especially on rural routes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428625" y="3701467"/>
            <a:ext cx="200025" cy="20002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380" y="3751473"/>
            <a:ext cx="112514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6"/>
          <p:cNvSpPr/>
          <p:nvPr/>
        </p:nvSpPr>
        <p:spPr>
          <a:xfrm>
            <a:off x="700088" y="3701467"/>
            <a:ext cx="331810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Redesign high-risk junctions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with improved control mechanisms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428625" y="3944355"/>
            <a:ext cx="200025" cy="20002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0" name="Google Shape;32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8631" y="3994361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6"/>
          <p:cNvSpPr/>
          <p:nvPr/>
        </p:nvSpPr>
        <p:spPr>
          <a:xfrm>
            <a:off x="700088" y="3944355"/>
            <a:ext cx="300202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Target safety campaigns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to rural drivers about speed risks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428625" y="4230105"/>
            <a:ext cx="4426502" cy="52969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428625" y="4230105"/>
            <a:ext cx="4426502" cy="142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571500" y="4287255"/>
            <a:ext cx="414075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571500" y="4485494"/>
            <a:ext cx="4140752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[1] Department for Transport. (2025). Road safety open data. GOV.UK. https://www.gov.uk/government/statistical-data-sets/road-safety-open-data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26577" y="971550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"/>
          <p:cNvSpPr/>
          <p:nvPr/>
        </p:nvSpPr>
        <p:spPr>
          <a:xfrm>
            <a:off x="5240889" y="941189"/>
            <a:ext cx="234942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Methodological Contributions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5026577" y="1262658"/>
            <a:ext cx="3688798" cy="1107281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"/>
          <p:cNvSpPr/>
          <p:nvPr/>
        </p:nvSpPr>
        <p:spPr>
          <a:xfrm>
            <a:off x="5026577" y="1262658"/>
            <a:ext cx="28575" cy="1107281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5155164" y="1348383"/>
            <a:ext cx="3431623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PCA Effectiveness: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Achieved 91.76% variance retention with 23.53% dimensionality reduction (17 → 13 components)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5155164" y="1698427"/>
            <a:ext cx="3431623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Statistical Validation: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All risk factors statistically significant (p &lt; 0.05)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5155164" y="2048470"/>
            <a:ext cx="3431623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Reproducible Pipeline:</a:t>
            </a:r>
            <a:r>
              <a:rPr b="0" i="0" lang="en-US" sz="780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Complete analysis workflow from data cleaning to PCA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5026577" y="2427089"/>
            <a:ext cx="368879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5026577" y="2659261"/>
            <a:ext cx="368879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Dataset limited to 2024 (temporal generalization unknown)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5026577" y="2837855"/>
            <a:ext cx="368879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Some features excluded due to missing data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5026577" y="3016448"/>
            <a:ext cx="368879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Binary severity classification may oversimplify Fatal vs. Serious distinction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5026577" y="3223617"/>
            <a:ext cx="368879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Future Research Directions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5026577" y="2659261"/>
            <a:ext cx="5000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5026577" y="2837855"/>
            <a:ext cx="5000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5026577" y="3016448"/>
            <a:ext cx="5000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5026577" y="3455789"/>
            <a:ext cx="368879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Temporal analysis across multiple years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5026577" y="3634383"/>
            <a:ext cx="368879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Machine learning models for severity prediction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5026577" y="3812977"/>
            <a:ext cx="368879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Geographic clustering analysis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5026577" y="3991570"/>
            <a:ext cx="368879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Integration with vehicle telematics data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26577" y="4198739"/>
            <a:ext cx="3688798" cy="107156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6"/>
          <p:cNvSpPr/>
          <p:nvPr/>
        </p:nvSpPr>
        <p:spPr>
          <a:xfrm>
            <a:off x="5026577" y="3455789"/>
            <a:ext cx="5000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5026577" y="3634383"/>
            <a:ext cx="5000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5026577" y="3812977"/>
            <a:ext cx="5000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5026577" y="3991570"/>
            <a:ext cx="5000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2025-12-03T20:00:47Z</dcterms:created>
  <dc:creator>PptxGenJS</dc:creator>
</cp:coreProperties>
</file>